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00B4D8">
              <a:alpha val="8000"/>
            </a:srgbClr>
          </a:solidFill>
          <a:ln w="12700">
            <a:solidFill>
              <a:srgbClr val="00B4D8">
                <a:alpha val="30000"/>
              </a:srgbClr>
            </a:solidFill>
            <a:prstDash val="solid"/>
          </a:ln>
        </p:spPr>
      </p:sp>
      <p:sp>
        <p:nvSpPr>
          <p:cNvPr id="3" name="Shape 1"/>
          <p:cNvSpPr/>
          <p:nvPr/>
        </p:nvSpPr>
        <p:spPr>
          <a:xfrm>
            <a:off x="6858000" y="2286000"/>
            <a:ext cx="3657600" cy="3657600"/>
          </a:xfrm>
          <a:prstGeom prst="ellipse">
            <a:avLst/>
          </a:prstGeom>
          <a:solidFill>
            <a:srgbClr val="818CF8">
              <a:alpha val="7000"/>
            </a:srgbClr>
          </a:solidFill>
          <a:ln w="12700">
            <a:solidFill>
              <a:srgbClr val="818CF8">
                <a:alpha val="25000"/>
              </a:srgbClr>
            </a:solidFill>
            <a:prstDash val="solid"/>
          </a:ln>
        </p:spPr>
      </p:sp>
      <p:sp>
        <p:nvSpPr>
          <p:cNvPr id="4" name="Shape 2"/>
          <p:cNvSpPr/>
          <p:nvPr/>
        </p:nvSpPr>
        <p:spPr>
          <a:xfrm>
            <a:off x="5029200" y="-457200"/>
            <a:ext cx="2286000" cy="2286000"/>
          </a:xfrm>
          <a:prstGeom prst="ellipse">
            <a:avLst/>
          </a:prstGeom>
          <a:solidFill>
            <a:srgbClr val="38BDF8">
              <a:alpha val="6000"/>
            </a:srgbClr>
          </a:solidFill>
          <a:ln w="6350">
            <a:solidFill>
              <a:srgbClr val="38BDF8">
                <a:alpha val="20000"/>
              </a:srgbClr>
            </a:solidFill>
            <a:prstDash val="solid"/>
          </a:ln>
        </p:spPr>
      </p:sp>
      <p:sp>
        <p:nvSpPr>
          <p:cNvPr id="5" name="Shape 3"/>
          <p:cNvSpPr/>
          <p:nvPr/>
        </p:nvSpPr>
        <p:spPr>
          <a:xfrm>
            <a:off x="0" y="0"/>
            <a:ext cx="5303520" cy="5143500"/>
          </a:xfrm>
          <a:prstGeom prst="rect">
            <a:avLst/>
          </a:prstGeom>
          <a:solidFill>
            <a:srgbClr val="0D1B3E"/>
          </a:solidFill>
          <a:ln/>
        </p:spPr>
      </p:sp>
      <p:sp>
        <p:nvSpPr>
          <p:cNvPr id="6" name="Shape 4"/>
          <p:cNvSpPr/>
          <p:nvPr/>
        </p:nvSpPr>
        <p:spPr>
          <a:xfrm>
            <a:off x="5285232" y="0"/>
            <a:ext cx="36576" cy="5143500"/>
          </a:xfrm>
          <a:prstGeom prst="rect">
            <a:avLst/>
          </a:prstGeom>
          <a:solidFill>
            <a:srgbClr val="00B4D8"/>
          </a:solidFill>
          <a:ln/>
        </p:spPr>
      </p:sp>
      <p:sp>
        <p:nvSpPr>
          <p:cNvPr id="7" name="Shape 5"/>
          <p:cNvSpPr/>
          <p:nvPr/>
        </p:nvSpPr>
        <p:spPr>
          <a:xfrm>
            <a:off x="457200" y="411480"/>
            <a:ext cx="2011680" cy="347472"/>
          </a:xfrm>
          <a:prstGeom prst="roundRect">
            <a:avLst>
              <a:gd name="adj" fmla="val 26316"/>
            </a:avLst>
          </a:prstGeom>
          <a:solidFill>
            <a:srgbClr val="00B4D8"/>
          </a:solidFill>
          <a:ln/>
        </p:spPr>
      </p:sp>
      <p:sp>
        <p:nvSpPr>
          <p:cNvPr id="8" name="Text 6"/>
          <p:cNvSpPr/>
          <p:nvPr/>
        </p:nvSpPr>
        <p:spPr>
          <a:xfrm>
            <a:off x="457200" y="411480"/>
            <a:ext cx="2011680" cy="347472"/>
          </a:xfrm>
          <a:prstGeom prst="rect">
            <a:avLst/>
          </a:prstGeom>
          <a:noFill/>
          <a:ln/>
        </p:spPr>
        <p:txBody>
          <a:bodyPr wrap="square" lIns="0" tIns="0" rIns="0" bIns="0" rtlCol="0" anchor="ctr"/>
          <a:lstStyle/>
          <a:p>
            <a:pPr algn="ctr" indent="0" marL="0">
              <a:buNone/>
            </a:pPr>
            <a:r>
              <a:rPr lang="en-US" sz="850" b="1" spc="200" kern="0" dirty="0">
                <a:solidFill>
                  <a:srgbClr val="0A0E27"/>
                </a:solidFill>
              </a:rPr>
              <a:t>AI &amp; ML PROJECT</a:t>
            </a:r>
            <a:endParaRPr lang="en-US" sz="850" dirty="0"/>
          </a:p>
        </p:txBody>
      </p:sp>
      <p:sp>
        <p:nvSpPr>
          <p:cNvPr id="9" name="Text 7"/>
          <p:cNvSpPr/>
          <p:nvPr/>
        </p:nvSpPr>
        <p:spPr>
          <a:xfrm>
            <a:off x="457200" y="914400"/>
            <a:ext cx="4663440" cy="685800"/>
          </a:xfrm>
          <a:prstGeom prst="rect">
            <a:avLst/>
          </a:prstGeom>
          <a:noFill/>
          <a:ln/>
        </p:spPr>
        <p:txBody>
          <a:bodyPr wrap="square" lIns="0" tIns="0" rIns="0" bIns="0" rtlCol="0" anchor="ctr"/>
          <a:lstStyle/>
          <a:p>
            <a:pPr indent="0" marL="0">
              <a:buNone/>
            </a:pPr>
            <a:r>
              <a:rPr lang="en-US" sz="3800" b="1" dirty="0">
                <a:solidFill>
                  <a:srgbClr val="38BDF8"/>
                </a:solidFill>
                <a:latin typeface="Calibri" pitchFamily="34" charset="0"/>
                <a:ea typeface="Calibri" pitchFamily="34" charset="-122"/>
                <a:cs typeface="Calibri" pitchFamily="34" charset="-120"/>
              </a:rPr>
              <a:t>AI-Powered</a:t>
            </a:r>
            <a:endParaRPr lang="en-US" sz="3800" dirty="0"/>
          </a:p>
        </p:txBody>
      </p:sp>
      <p:sp>
        <p:nvSpPr>
          <p:cNvPr id="10" name="Text 8"/>
          <p:cNvSpPr/>
          <p:nvPr/>
        </p:nvSpPr>
        <p:spPr>
          <a:xfrm>
            <a:off x="457200" y="1572768"/>
            <a:ext cx="4663440" cy="6858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Face Attendance</a:t>
            </a:r>
            <a:endParaRPr lang="en-US" sz="3800" dirty="0"/>
          </a:p>
        </p:txBody>
      </p:sp>
      <p:sp>
        <p:nvSpPr>
          <p:cNvPr id="11" name="Text 9"/>
          <p:cNvSpPr/>
          <p:nvPr/>
        </p:nvSpPr>
        <p:spPr>
          <a:xfrm>
            <a:off x="457200" y="2231136"/>
            <a:ext cx="4663440" cy="658368"/>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System</a:t>
            </a:r>
            <a:endParaRPr lang="en-US" sz="3800" dirty="0"/>
          </a:p>
        </p:txBody>
      </p:sp>
      <p:sp>
        <p:nvSpPr>
          <p:cNvPr id="12" name="Text 10"/>
          <p:cNvSpPr/>
          <p:nvPr/>
        </p:nvSpPr>
        <p:spPr>
          <a:xfrm>
            <a:off x="457200" y="2999232"/>
            <a:ext cx="4663440" cy="5486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Automating Attendance Using Artificial Intelligence &amp; Computer Vision</a:t>
            </a:r>
            <a:endParaRPr lang="en-US" sz="1100" dirty="0"/>
          </a:p>
        </p:txBody>
      </p:sp>
      <p:sp>
        <p:nvSpPr>
          <p:cNvPr id="13" name="Shape 11"/>
          <p:cNvSpPr/>
          <p:nvPr/>
        </p:nvSpPr>
        <p:spPr>
          <a:xfrm>
            <a:off x="457200" y="3675888"/>
            <a:ext cx="3474720" cy="0"/>
          </a:xfrm>
          <a:prstGeom prst="line">
            <a:avLst/>
          </a:prstGeom>
          <a:noFill/>
          <a:ln w="19050">
            <a:solidFill>
              <a:srgbClr val="00B4D8"/>
            </a:solidFill>
            <a:prstDash val="solid"/>
          </a:ln>
        </p:spPr>
      </p:sp>
      <p:sp>
        <p:nvSpPr>
          <p:cNvPr id="14" name="Text 12"/>
          <p:cNvSpPr/>
          <p:nvPr/>
        </p:nvSpPr>
        <p:spPr>
          <a:xfrm>
            <a:off x="457200" y="3749040"/>
            <a:ext cx="4663440" cy="1005840"/>
          </a:xfrm>
          <a:prstGeom prst="rect">
            <a:avLst/>
          </a:prstGeom>
          <a:noFill/>
          <a:ln/>
        </p:spPr>
        <p:txBody>
          <a:bodyPr wrap="square" lIns="0" tIns="0" rIns="0" bIns="0" rtlCol="0" anchor="ctr"/>
          <a:lstStyle/>
          <a:p>
            <a:pPr indent="0" marL="0">
              <a:buNone/>
            </a:pPr>
            <a:r>
              <a:rPr lang="en-US" sz="1400" b="1" dirty="0">
                <a:solidFill>
                  <a:srgbClr val="FFFFFF"/>
                </a:solidFill>
              </a:rPr>
              <a:t>Shreyas Goyal</a:t>
            </a:r>
            <a:endParaRPr lang="en-US" sz="1400" dirty="0"/>
          </a:p>
          <a:p>
            <a:pPr indent="0" marL="0">
              <a:buNone/>
            </a:pPr>
            <a:r>
              <a:rPr lang="en-US" sz="1050" dirty="0">
                <a:solidFill>
                  <a:srgbClr val="94A3B8"/>
                </a:solidFill>
              </a:rPr>
              <a:t>B.Tech CSE (AI &amp; ML – IBM)</a:t>
            </a:r>
            <a:endParaRPr lang="en-US" sz="1400" dirty="0"/>
          </a:p>
          <a:p>
            <a:pPr indent="0" marL="0">
              <a:buNone/>
            </a:pPr>
            <a:r>
              <a:rPr lang="en-US" sz="1000" dirty="0">
                <a:solidFill>
                  <a:srgbClr val="94A3B8"/>
                </a:solidFill>
              </a:rPr>
              <a:t>Amrapali University, Haldwani</a:t>
            </a:r>
            <a:endParaRPr lang="en-US" sz="1400" dirty="0"/>
          </a:p>
        </p:txBody>
      </p:sp>
      <p:pic>
        <p:nvPicPr>
          <p:cNvPr id="15" name="Image 0" descr="preencoded.png">    </p:cNvPr>
          <p:cNvPicPr>
            <a:picLocks noChangeAspect="1"/>
          </p:cNvPicPr>
          <p:nvPr/>
        </p:nvPicPr>
        <p:blipFill>
          <a:blip r:embed="rId1"/>
          <a:stretch>
            <a:fillRect/>
          </a:stretch>
        </p:blipFill>
        <p:spPr>
          <a:xfrm>
            <a:off x="5486400" y="457200"/>
            <a:ext cx="3383280" cy="2011680"/>
          </a:xfrm>
          <a:prstGeom prst="rect">
            <a:avLst/>
          </a:prstGeom>
        </p:spPr>
      </p:pic>
      <p:sp>
        <p:nvSpPr>
          <p:cNvPr id="16" name="Shape 13"/>
          <p:cNvSpPr/>
          <p:nvPr/>
        </p:nvSpPr>
        <p:spPr>
          <a:xfrm>
            <a:off x="5486400" y="457200"/>
            <a:ext cx="3383280" cy="2011680"/>
          </a:xfrm>
          <a:prstGeom prst="roundRect">
            <a:avLst>
              <a:gd name="adj" fmla="val 4545"/>
            </a:avLst>
          </a:prstGeom>
          <a:solidFill>
            <a:srgbClr val="FFFFFF">
              <a:alpha val="0"/>
            </a:srgbClr>
          </a:solidFill>
          <a:ln w="19050">
            <a:solidFill>
              <a:srgbClr val="00B4D8"/>
            </a:solidFill>
            <a:prstDash val="solid"/>
          </a:ln>
        </p:spPr>
      </p:sp>
      <p:pic>
        <p:nvPicPr>
          <p:cNvPr id="17" name="Image 1" descr="preencoded.png">    </p:cNvPr>
          <p:cNvPicPr>
            <a:picLocks noChangeAspect="1"/>
          </p:cNvPicPr>
          <p:nvPr/>
        </p:nvPicPr>
        <p:blipFill>
          <a:blip r:embed="rId2"/>
          <a:stretch>
            <a:fillRect/>
          </a:stretch>
        </p:blipFill>
        <p:spPr>
          <a:xfrm>
            <a:off x="5486400" y="2651760"/>
            <a:ext cx="3383280" cy="2011680"/>
          </a:xfrm>
          <a:prstGeom prst="rect">
            <a:avLst/>
          </a:prstGeom>
        </p:spPr>
      </p:pic>
      <p:sp>
        <p:nvSpPr>
          <p:cNvPr id="18" name="Shape 14"/>
          <p:cNvSpPr/>
          <p:nvPr/>
        </p:nvSpPr>
        <p:spPr>
          <a:xfrm>
            <a:off x="5486400" y="2651760"/>
            <a:ext cx="3383280" cy="2011680"/>
          </a:xfrm>
          <a:prstGeom prst="roundRect">
            <a:avLst>
              <a:gd name="adj" fmla="val 4545"/>
            </a:avLst>
          </a:prstGeom>
          <a:solidFill>
            <a:srgbClr val="FFFFFF">
              <a:alpha val="0"/>
            </a:srgbClr>
          </a:solidFill>
          <a:ln w="19050">
            <a:solidFill>
              <a:srgbClr val="818CF8"/>
            </a:solidFill>
            <a:prstDash val="solid"/>
          </a:ln>
        </p:spPr>
      </p:sp>
      <p:sp>
        <p:nvSpPr>
          <p:cNvPr id="19" name="Shape 15"/>
          <p:cNvSpPr/>
          <p:nvPr/>
        </p:nvSpPr>
        <p:spPr>
          <a:xfrm>
            <a:off x="5577840" y="502920"/>
            <a:ext cx="1371600" cy="256032"/>
          </a:xfrm>
          <a:prstGeom prst="roundRect">
            <a:avLst>
              <a:gd name="adj" fmla="val 17857"/>
            </a:avLst>
          </a:prstGeom>
          <a:solidFill>
            <a:srgbClr val="00B4D8"/>
          </a:solidFill>
          <a:ln/>
        </p:spPr>
      </p:sp>
      <p:sp>
        <p:nvSpPr>
          <p:cNvPr id="20" name="Text 16"/>
          <p:cNvSpPr/>
          <p:nvPr/>
        </p:nvSpPr>
        <p:spPr>
          <a:xfrm>
            <a:off x="5577840" y="502920"/>
            <a:ext cx="1371600" cy="256032"/>
          </a:xfrm>
          <a:prstGeom prst="rect">
            <a:avLst/>
          </a:prstGeom>
          <a:noFill/>
          <a:ln/>
        </p:spPr>
        <p:txBody>
          <a:bodyPr wrap="square" lIns="0" tIns="0" rIns="0" bIns="0" rtlCol="0" anchor="ctr"/>
          <a:lstStyle/>
          <a:p>
            <a:pPr algn="ctr" indent="0" marL="0">
              <a:buNone/>
            </a:pPr>
            <a:r>
              <a:rPr lang="en-US" sz="750" b="1" dirty="0">
                <a:solidFill>
                  <a:srgbClr val="0A0E27"/>
                </a:solidFill>
              </a:rPr>
              <a:t>Main Dashboard</a:t>
            </a:r>
            <a:endParaRPr lang="en-US" sz="750" dirty="0"/>
          </a:p>
        </p:txBody>
      </p:sp>
      <p:sp>
        <p:nvSpPr>
          <p:cNvPr id="21" name="Shape 17"/>
          <p:cNvSpPr/>
          <p:nvPr/>
        </p:nvSpPr>
        <p:spPr>
          <a:xfrm>
            <a:off x="5577840" y="2697480"/>
            <a:ext cx="1463040" cy="256032"/>
          </a:xfrm>
          <a:prstGeom prst="roundRect">
            <a:avLst>
              <a:gd name="adj" fmla="val 17857"/>
            </a:avLst>
          </a:prstGeom>
          <a:solidFill>
            <a:srgbClr val="818CF8"/>
          </a:solidFill>
          <a:ln/>
        </p:spPr>
      </p:sp>
      <p:sp>
        <p:nvSpPr>
          <p:cNvPr id="22" name="Text 18"/>
          <p:cNvSpPr/>
          <p:nvPr/>
        </p:nvSpPr>
        <p:spPr>
          <a:xfrm>
            <a:off x="5577840" y="2697480"/>
            <a:ext cx="1463040" cy="256032"/>
          </a:xfrm>
          <a:prstGeom prst="rect">
            <a:avLst/>
          </a:prstGeom>
          <a:noFill/>
          <a:ln/>
        </p:spPr>
        <p:txBody>
          <a:bodyPr wrap="square" lIns="0" tIns="0" rIns="0" bIns="0" rtlCol="0" anchor="ctr"/>
          <a:lstStyle/>
          <a:p>
            <a:pPr algn="ctr" indent="0" marL="0">
              <a:buNone/>
            </a:pPr>
            <a:r>
              <a:rPr lang="en-US" sz="750" b="1" dirty="0">
                <a:solidFill>
                  <a:srgbClr val="FFFFFF"/>
                </a:solidFill>
              </a:rPr>
              <a:t>Attendance Module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38BDF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02  INTRODUCTION</a:t>
            </a:r>
            <a:endParaRPr lang="en-US" sz="2600" dirty="0"/>
          </a:p>
        </p:txBody>
      </p:sp>
      <p:sp>
        <p:nvSpPr>
          <p:cNvPr id="5" name="Shape 3"/>
          <p:cNvSpPr/>
          <p:nvPr/>
        </p:nvSpPr>
        <p:spPr>
          <a:xfrm>
            <a:off x="0" y="850392"/>
            <a:ext cx="9144000" cy="36576"/>
          </a:xfrm>
          <a:prstGeom prst="rect">
            <a:avLst/>
          </a:prstGeom>
          <a:solidFill>
            <a:srgbClr val="38BDF8">
              <a:alpha val="40000"/>
            </a:srgbClr>
          </a:solidFill>
          <a:ln/>
        </p:spPr>
      </p:sp>
      <p:sp>
        <p:nvSpPr>
          <p:cNvPr id="6" name="Shape 4"/>
          <p:cNvSpPr/>
          <p:nvPr/>
        </p:nvSpPr>
        <p:spPr>
          <a:xfrm>
            <a:off x="8732520" y="201168"/>
            <a:ext cx="256032" cy="256032"/>
          </a:xfrm>
          <a:prstGeom prst="ellipse">
            <a:avLst/>
          </a:prstGeom>
          <a:solidFill>
            <a:srgbClr val="38BDF8">
              <a:alpha val="70000"/>
            </a:srgbClr>
          </a:solidFill>
          <a:ln/>
        </p:spPr>
      </p:sp>
      <p:sp>
        <p:nvSpPr>
          <p:cNvPr id="7" name="Shape 5"/>
          <p:cNvSpPr/>
          <p:nvPr/>
        </p:nvSpPr>
        <p:spPr>
          <a:xfrm>
            <a:off x="365760" y="1005840"/>
            <a:ext cx="4206240" cy="3840480"/>
          </a:xfrm>
          <a:prstGeom prst="roundRect">
            <a:avLst>
              <a:gd name="adj" fmla="val 2857"/>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65760" y="1005840"/>
            <a:ext cx="54864" cy="3840480"/>
          </a:xfrm>
          <a:prstGeom prst="roundRect">
            <a:avLst>
              <a:gd name="adj" fmla="val 50000"/>
            </a:avLst>
          </a:prstGeom>
          <a:solidFill>
            <a:srgbClr val="38BDF8"/>
          </a:solidFill>
          <a:ln/>
        </p:spPr>
      </p:sp>
      <p:sp>
        <p:nvSpPr>
          <p:cNvPr id="9" name="Text 7"/>
          <p:cNvSpPr/>
          <p:nvPr/>
        </p:nvSpPr>
        <p:spPr>
          <a:xfrm>
            <a:off x="594360" y="1143000"/>
            <a:ext cx="3840480" cy="411480"/>
          </a:xfrm>
          <a:prstGeom prst="rect">
            <a:avLst/>
          </a:prstGeom>
          <a:noFill/>
          <a:ln/>
        </p:spPr>
        <p:txBody>
          <a:bodyPr wrap="square" lIns="0" tIns="0" rIns="0" bIns="0"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What is it?</a:t>
            </a:r>
            <a:endParaRPr lang="en-US" sz="1600" dirty="0"/>
          </a:p>
        </p:txBody>
      </p:sp>
      <p:sp>
        <p:nvSpPr>
          <p:cNvPr id="10" name="Text 8"/>
          <p:cNvSpPr/>
          <p:nvPr/>
        </p:nvSpPr>
        <p:spPr>
          <a:xfrm>
            <a:off x="594360" y="1627632"/>
            <a:ext cx="3749040" cy="2926080"/>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The AI-Powered Face Attendance System is a Python-based application that uses DeepFace (Facenet512 model) and OpenCV to automatically identify students from a live webcam feed and mark their attendance — eliminating manual roll calls entirely.</a:t>
            </a:r>
            <a:endParaRPr lang="en-US" sz="1100" dirty="0"/>
          </a:p>
          <a:p>
            <a:pPr indent="0" marL="0">
              <a:buNone/>
            </a:pPr>
            <a:endParaRPr lang="en-US" sz="1100" dirty="0"/>
          </a:p>
          <a:p>
            <a:pPr indent="0" marL="0">
              <a:buNone/>
            </a:pPr>
            <a:r>
              <a:rPr lang="en-US" sz="1100" dirty="0">
                <a:solidFill>
                  <a:srgbClr val="E3F2FD"/>
                </a:solidFill>
                <a:latin typeface="Calibri" pitchFamily="34" charset="0"/>
                <a:ea typeface="Calibri" pitchFamily="34" charset="-122"/>
                <a:cs typeface="Calibri" pitchFamily="34" charset="-120"/>
              </a:rPr>
              <a:t>Built with a modern Tkinter dashboard (dark/light mode), it stores all records in SQLite and exports attendance as CSV.</a:t>
            </a:r>
            <a:endParaRPr lang="en-US" sz="1100" dirty="0"/>
          </a:p>
        </p:txBody>
      </p:sp>
      <p:sp>
        <p:nvSpPr>
          <p:cNvPr id="11" name="Shape 9"/>
          <p:cNvSpPr/>
          <p:nvPr/>
        </p:nvSpPr>
        <p:spPr>
          <a:xfrm>
            <a:off x="4754880" y="1005840"/>
            <a:ext cx="4114800" cy="3840480"/>
          </a:xfrm>
          <a:prstGeom prst="roundRect">
            <a:avLst>
              <a:gd name="adj" fmla="val 2857"/>
            </a:avLst>
          </a:prstGeom>
          <a:solidFill>
            <a:srgbClr val="1E293B"/>
          </a:solidFill>
          <a:ln/>
          <a:effectLst>
            <a:outerShdw sx="100000" sy="100000" kx="0" ky="0" algn="bl" rotWithShape="0" blurRad="127000" dist="50800" dir="2700000">
              <a:srgbClr val="000000">
                <a:alpha val="35000"/>
              </a:srgbClr>
            </a:outerShdw>
          </a:effectLst>
        </p:spPr>
      </p:sp>
      <p:sp>
        <p:nvSpPr>
          <p:cNvPr id="12" name="Shape 10"/>
          <p:cNvSpPr/>
          <p:nvPr/>
        </p:nvSpPr>
        <p:spPr>
          <a:xfrm>
            <a:off x="4754880" y="1005840"/>
            <a:ext cx="54864" cy="3840480"/>
          </a:xfrm>
          <a:prstGeom prst="roundRect">
            <a:avLst>
              <a:gd name="adj" fmla="val 50000"/>
            </a:avLst>
          </a:prstGeom>
          <a:solidFill>
            <a:srgbClr val="F59E0B"/>
          </a:solidFill>
          <a:ln/>
        </p:spPr>
      </p:sp>
      <p:sp>
        <p:nvSpPr>
          <p:cNvPr id="13" name="Text 11"/>
          <p:cNvSpPr/>
          <p:nvPr/>
        </p:nvSpPr>
        <p:spPr>
          <a:xfrm>
            <a:off x="4983480" y="1143000"/>
            <a:ext cx="3657600" cy="41148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Why Automate?</a:t>
            </a:r>
            <a:endParaRPr lang="en-US" sz="1600" dirty="0"/>
          </a:p>
        </p:txBody>
      </p:sp>
      <p:sp>
        <p:nvSpPr>
          <p:cNvPr id="14" name="Shape 12"/>
          <p:cNvSpPr/>
          <p:nvPr/>
        </p:nvSpPr>
        <p:spPr>
          <a:xfrm>
            <a:off x="4937760" y="1719072"/>
            <a:ext cx="3657600" cy="475488"/>
          </a:xfrm>
          <a:prstGeom prst="roundRect">
            <a:avLst>
              <a:gd name="adj" fmla="val 15385"/>
            </a:avLst>
          </a:prstGeom>
          <a:solidFill>
            <a:srgbClr val="0F172A"/>
          </a:solidFill>
          <a:ln/>
        </p:spPr>
      </p:sp>
      <p:sp>
        <p:nvSpPr>
          <p:cNvPr id="15" name="Text 13"/>
          <p:cNvSpPr/>
          <p:nvPr/>
        </p:nvSpPr>
        <p:spPr>
          <a:xfrm>
            <a:off x="4983480" y="1719072"/>
            <a:ext cx="457200" cy="475488"/>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6" name="Text 14"/>
          <p:cNvSpPr/>
          <p:nvPr/>
        </p:nvSpPr>
        <p:spPr>
          <a:xfrm>
            <a:off x="5532120" y="1719072"/>
            <a:ext cx="2926080" cy="475488"/>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Saves 5–10 min per class session</a:t>
            </a:r>
            <a:endParaRPr lang="en-US" sz="1100" dirty="0"/>
          </a:p>
        </p:txBody>
      </p:sp>
      <p:sp>
        <p:nvSpPr>
          <p:cNvPr id="17" name="Shape 15"/>
          <p:cNvSpPr/>
          <p:nvPr/>
        </p:nvSpPr>
        <p:spPr>
          <a:xfrm>
            <a:off x="4937760" y="2286000"/>
            <a:ext cx="3657600" cy="475488"/>
          </a:xfrm>
          <a:prstGeom prst="roundRect">
            <a:avLst>
              <a:gd name="adj" fmla="val 15385"/>
            </a:avLst>
          </a:prstGeom>
          <a:solidFill>
            <a:srgbClr val="0F172A"/>
          </a:solidFill>
          <a:ln/>
        </p:spPr>
      </p:sp>
      <p:sp>
        <p:nvSpPr>
          <p:cNvPr id="18" name="Text 16"/>
          <p:cNvSpPr/>
          <p:nvPr/>
        </p:nvSpPr>
        <p:spPr>
          <a:xfrm>
            <a:off x="4983480" y="2286000"/>
            <a:ext cx="457200" cy="475488"/>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9" name="Text 17"/>
          <p:cNvSpPr/>
          <p:nvPr/>
        </p:nvSpPr>
        <p:spPr>
          <a:xfrm>
            <a:off x="5532120" y="2286000"/>
            <a:ext cx="2926080" cy="475488"/>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Eliminates proxy &amp; human errors</a:t>
            </a:r>
            <a:endParaRPr lang="en-US" sz="1100" dirty="0"/>
          </a:p>
        </p:txBody>
      </p:sp>
      <p:sp>
        <p:nvSpPr>
          <p:cNvPr id="20" name="Shape 18"/>
          <p:cNvSpPr/>
          <p:nvPr/>
        </p:nvSpPr>
        <p:spPr>
          <a:xfrm>
            <a:off x="4937760" y="2852928"/>
            <a:ext cx="3657600" cy="475488"/>
          </a:xfrm>
          <a:prstGeom prst="roundRect">
            <a:avLst>
              <a:gd name="adj" fmla="val 15385"/>
            </a:avLst>
          </a:prstGeom>
          <a:solidFill>
            <a:srgbClr val="0F172A"/>
          </a:solidFill>
          <a:ln/>
        </p:spPr>
      </p:sp>
      <p:sp>
        <p:nvSpPr>
          <p:cNvPr id="21" name="Text 19"/>
          <p:cNvSpPr/>
          <p:nvPr/>
        </p:nvSpPr>
        <p:spPr>
          <a:xfrm>
            <a:off x="4983480" y="2852928"/>
            <a:ext cx="457200" cy="475488"/>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2" name="Text 20"/>
          <p:cNvSpPr/>
          <p:nvPr/>
        </p:nvSpPr>
        <p:spPr>
          <a:xfrm>
            <a:off x="5532120" y="2852928"/>
            <a:ext cx="2926080" cy="475488"/>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Real-time dashboard analytics</a:t>
            </a:r>
            <a:endParaRPr lang="en-US" sz="1100" dirty="0"/>
          </a:p>
        </p:txBody>
      </p:sp>
      <p:sp>
        <p:nvSpPr>
          <p:cNvPr id="23" name="Shape 21"/>
          <p:cNvSpPr/>
          <p:nvPr/>
        </p:nvSpPr>
        <p:spPr>
          <a:xfrm>
            <a:off x="4937760" y="3419856"/>
            <a:ext cx="3657600" cy="475488"/>
          </a:xfrm>
          <a:prstGeom prst="roundRect">
            <a:avLst>
              <a:gd name="adj" fmla="val 15385"/>
            </a:avLst>
          </a:prstGeom>
          <a:solidFill>
            <a:srgbClr val="0F172A"/>
          </a:solidFill>
          <a:ln/>
        </p:spPr>
      </p:sp>
      <p:sp>
        <p:nvSpPr>
          <p:cNvPr id="24" name="Text 22"/>
          <p:cNvSpPr/>
          <p:nvPr/>
        </p:nvSpPr>
        <p:spPr>
          <a:xfrm>
            <a:off x="4983480" y="3419856"/>
            <a:ext cx="457200" cy="475488"/>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5" name="Text 23"/>
          <p:cNvSpPr/>
          <p:nvPr/>
        </p:nvSpPr>
        <p:spPr>
          <a:xfrm>
            <a:off x="5532120" y="3419856"/>
            <a:ext cx="2926080" cy="475488"/>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Digital SQLite + CSV records</a:t>
            </a:r>
            <a:endParaRPr lang="en-US" sz="1100" dirty="0"/>
          </a:p>
        </p:txBody>
      </p:sp>
      <p:sp>
        <p:nvSpPr>
          <p:cNvPr id="26" name="Shape 24"/>
          <p:cNvSpPr/>
          <p:nvPr/>
        </p:nvSpPr>
        <p:spPr>
          <a:xfrm>
            <a:off x="4937760" y="3986784"/>
            <a:ext cx="3657600" cy="475488"/>
          </a:xfrm>
          <a:prstGeom prst="roundRect">
            <a:avLst>
              <a:gd name="adj" fmla="val 15385"/>
            </a:avLst>
          </a:prstGeom>
          <a:solidFill>
            <a:srgbClr val="0F172A"/>
          </a:solidFill>
          <a:ln/>
        </p:spPr>
      </p:sp>
      <p:sp>
        <p:nvSpPr>
          <p:cNvPr id="27" name="Text 25"/>
          <p:cNvSpPr/>
          <p:nvPr/>
        </p:nvSpPr>
        <p:spPr>
          <a:xfrm>
            <a:off x="4983480" y="3986784"/>
            <a:ext cx="457200" cy="475488"/>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8" name="Text 26"/>
          <p:cNvSpPr/>
          <p:nvPr/>
        </p:nvSpPr>
        <p:spPr>
          <a:xfrm>
            <a:off x="5532120" y="3986784"/>
            <a:ext cx="2926080" cy="475488"/>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100% contactless and hygienic</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EF4444"/>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03  PROBLEM STATEMENT</a:t>
            </a:r>
            <a:endParaRPr lang="en-US" sz="2600" dirty="0"/>
          </a:p>
        </p:txBody>
      </p:sp>
      <p:sp>
        <p:nvSpPr>
          <p:cNvPr id="5" name="Shape 3"/>
          <p:cNvSpPr/>
          <p:nvPr/>
        </p:nvSpPr>
        <p:spPr>
          <a:xfrm>
            <a:off x="0" y="850392"/>
            <a:ext cx="9144000" cy="36576"/>
          </a:xfrm>
          <a:prstGeom prst="rect">
            <a:avLst/>
          </a:prstGeom>
          <a:solidFill>
            <a:srgbClr val="EF4444">
              <a:alpha val="40000"/>
            </a:srgbClr>
          </a:solidFill>
          <a:ln/>
        </p:spPr>
      </p:sp>
      <p:sp>
        <p:nvSpPr>
          <p:cNvPr id="6" name="Shape 4"/>
          <p:cNvSpPr/>
          <p:nvPr/>
        </p:nvSpPr>
        <p:spPr>
          <a:xfrm>
            <a:off x="8732520" y="201168"/>
            <a:ext cx="256032" cy="256032"/>
          </a:xfrm>
          <a:prstGeom prst="ellipse">
            <a:avLst/>
          </a:prstGeom>
          <a:solidFill>
            <a:srgbClr val="EF4444">
              <a:alpha val="70000"/>
            </a:srgbClr>
          </a:solidFill>
          <a:ln/>
        </p:spPr>
      </p:sp>
      <p:sp>
        <p:nvSpPr>
          <p:cNvPr id="7" name="Text 5"/>
          <p:cNvSpPr/>
          <p:nvPr/>
        </p:nvSpPr>
        <p:spPr>
          <a:xfrm>
            <a:off x="365760" y="987552"/>
            <a:ext cx="8412480" cy="347472"/>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Traditional attendance methods fail modern academic institutions:</a:t>
            </a:r>
            <a:endParaRPr lang="en-US" sz="1200" dirty="0"/>
          </a:p>
        </p:txBody>
      </p:sp>
      <p:sp>
        <p:nvSpPr>
          <p:cNvPr id="8" name="Shape 6"/>
          <p:cNvSpPr/>
          <p:nvPr/>
        </p:nvSpPr>
        <p:spPr>
          <a:xfrm>
            <a:off x="365760" y="1463040"/>
            <a:ext cx="4160520" cy="1572768"/>
          </a:xfrm>
          <a:prstGeom prst="roundRect">
            <a:avLst>
              <a:gd name="adj" fmla="val 6977"/>
            </a:avLst>
          </a:prstGeom>
          <a:solidFill>
            <a:srgbClr val="1E293B"/>
          </a:solidFill>
          <a:ln/>
          <a:effectLst>
            <a:outerShdw sx="100000" sy="100000" kx="0" ky="0" algn="bl" rotWithShape="0" blurRad="127000" dist="50800" dir="2700000">
              <a:srgbClr val="000000">
                <a:alpha val="35000"/>
              </a:srgbClr>
            </a:outerShdw>
          </a:effectLst>
        </p:spPr>
      </p:sp>
      <p:sp>
        <p:nvSpPr>
          <p:cNvPr id="9" name="Shape 7"/>
          <p:cNvSpPr/>
          <p:nvPr/>
        </p:nvSpPr>
        <p:spPr>
          <a:xfrm>
            <a:off x="365760" y="1463040"/>
            <a:ext cx="54864" cy="1572768"/>
          </a:xfrm>
          <a:prstGeom prst="roundRect">
            <a:avLst>
              <a:gd name="adj" fmla="val 50000"/>
            </a:avLst>
          </a:prstGeom>
          <a:solidFill>
            <a:srgbClr val="F59E0B"/>
          </a:solidFill>
          <a:ln/>
        </p:spPr>
      </p:sp>
      <p:sp>
        <p:nvSpPr>
          <p:cNvPr id="10" name="Shape 8"/>
          <p:cNvSpPr/>
          <p:nvPr/>
        </p:nvSpPr>
        <p:spPr>
          <a:xfrm>
            <a:off x="530352" y="1645920"/>
            <a:ext cx="594360" cy="594360"/>
          </a:xfrm>
          <a:prstGeom prst="ellipse">
            <a:avLst/>
          </a:prstGeom>
          <a:solidFill>
            <a:srgbClr val="F59E0B">
              <a:alpha val="80000"/>
            </a:srgbClr>
          </a:solidFill>
          <a:ln/>
        </p:spPr>
      </p:sp>
      <p:sp>
        <p:nvSpPr>
          <p:cNvPr id="11" name="Text 9"/>
          <p:cNvSpPr/>
          <p:nvPr/>
        </p:nvSpPr>
        <p:spPr>
          <a:xfrm>
            <a:off x="530352" y="1645920"/>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1280160" y="1645920"/>
            <a:ext cx="310896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Time Consuming</a:t>
            </a:r>
            <a:endParaRPr lang="en-US" sz="1400" dirty="0"/>
          </a:p>
        </p:txBody>
      </p:sp>
      <p:sp>
        <p:nvSpPr>
          <p:cNvPr id="13" name="Text 11"/>
          <p:cNvSpPr/>
          <p:nvPr/>
        </p:nvSpPr>
        <p:spPr>
          <a:xfrm>
            <a:off x="548640" y="2130552"/>
            <a:ext cx="3794760" cy="777240"/>
          </a:xfrm>
          <a:prstGeom prst="rect">
            <a:avLst/>
          </a:prstGeom>
          <a:noFill/>
          <a:ln/>
        </p:spPr>
        <p:txBody>
          <a:bodyPr wrap="square" lIns="0" tIns="0" rIns="0" bIns="0" rtlCol="0" anchor="ctr"/>
          <a:lstStyle/>
          <a:p>
            <a:pPr indent="0" marL="0">
              <a:buNone/>
            </a:pPr>
            <a:r>
              <a:rPr lang="en-US" sz="1000" dirty="0">
                <a:solidFill>
                  <a:srgbClr val="E3F2FD"/>
                </a:solidFill>
                <a:latin typeface="Calibri" pitchFamily="34" charset="0"/>
                <a:ea typeface="Calibri" pitchFamily="34" charset="-122"/>
                <a:cs typeface="Calibri" pitchFamily="34" charset="-120"/>
              </a:rPr>
              <a:t>Manual roll calls waste 5–10 minutes per session, reducing effective teaching time across hundreds of classes annually.</a:t>
            </a:r>
            <a:endParaRPr lang="en-US" sz="1000" dirty="0"/>
          </a:p>
        </p:txBody>
      </p:sp>
      <p:sp>
        <p:nvSpPr>
          <p:cNvPr id="14" name="Shape 12"/>
          <p:cNvSpPr/>
          <p:nvPr/>
        </p:nvSpPr>
        <p:spPr>
          <a:xfrm>
            <a:off x="4800600" y="1463040"/>
            <a:ext cx="4160520" cy="1572768"/>
          </a:xfrm>
          <a:prstGeom prst="roundRect">
            <a:avLst>
              <a:gd name="adj" fmla="val 6977"/>
            </a:avLst>
          </a:prstGeom>
          <a:solidFill>
            <a:srgbClr val="1E293B"/>
          </a:solidFill>
          <a:ln/>
          <a:effectLst>
            <a:outerShdw sx="100000" sy="100000" kx="0" ky="0" algn="bl" rotWithShape="0" blurRad="127000" dist="50800" dir="2700000">
              <a:srgbClr val="000000">
                <a:alpha val="35000"/>
              </a:srgbClr>
            </a:outerShdw>
          </a:effectLst>
        </p:spPr>
      </p:sp>
      <p:sp>
        <p:nvSpPr>
          <p:cNvPr id="15" name="Shape 13"/>
          <p:cNvSpPr/>
          <p:nvPr/>
        </p:nvSpPr>
        <p:spPr>
          <a:xfrm>
            <a:off x="4800600" y="1463040"/>
            <a:ext cx="54864" cy="1572768"/>
          </a:xfrm>
          <a:prstGeom prst="roundRect">
            <a:avLst>
              <a:gd name="adj" fmla="val 50000"/>
            </a:avLst>
          </a:prstGeom>
          <a:solidFill>
            <a:srgbClr val="EF4444"/>
          </a:solidFill>
          <a:ln/>
        </p:spPr>
      </p:sp>
      <p:sp>
        <p:nvSpPr>
          <p:cNvPr id="16" name="Shape 14"/>
          <p:cNvSpPr/>
          <p:nvPr/>
        </p:nvSpPr>
        <p:spPr>
          <a:xfrm>
            <a:off x="4965192" y="1645920"/>
            <a:ext cx="594360" cy="594360"/>
          </a:xfrm>
          <a:prstGeom prst="ellipse">
            <a:avLst/>
          </a:prstGeom>
          <a:solidFill>
            <a:srgbClr val="EF4444">
              <a:alpha val="80000"/>
            </a:srgbClr>
          </a:solidFill>
          <a:ln/>
        </p:spPr>
      </p:sp>
      <p:sp>
        <p:nvSpPr>
          <p:cNvPr id="17" name="Text 15"/>
          <p:cNvSpPr/>
          <p:nvPr/>
        </p:nvSpPr>
        <p:spPr>
          <a:xfrm>
            <a:off x="4965192" y="1645920"/>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715000" y="1645920"/>
            <a:ext cx="3108960" cy="36576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Human Errors</a:t>
            </a:r>
            <a:endParaRPr lang="en-US" sz="1400" dirty="0"/>
          </a:p>
        </p:txBody>
      </p:sp>
      <p:sp>
        <p:nvSpPr>
          <p:cNvPr id="19" name="Text 17"/>
          <p:cNvSpPr/>
          <p:nvPr/>
        </p:nvSpPr>
        <p:spPr>
          <a:xfrm>
            <a:off x="4983480" y="2130552"/>
            <a:ext cx="3794760" cy="777240"/>
          </a:xfrm>
          <a:prstGeom prst="rect">
            <a:avLst/>
          </a:prstGeom>
          <a:noFill/>
          <a:ln/>
        </p:spPr>
        <p:txBody>
          <a:bodyPr wrap="square" lIns="0" tIns="0" rIns="0" bIns="0" rtlCol="0" anchor="ctr"/>
          <a:lstStyle/>
          <a:p>
            <a:pPr indent="0" marL="0">
              <a:buNone/>
            </a:pPr>
            <a:r>
              <a:rPr lang="en-US" sz="1000" dirty="0">
                <a:solidFill>
                  <a:srgbClr val="E3F2FD"/>
                </a:solidFill>
                <a:latin typeface="Calibri" pitchFamily="34" charset="0"/>
                <a:ea typeface="Calibri" pitchFamily="34" charset="-122"/>
                <a:cs typeface="Calibri" pitchFamily="34" charset="-120"/>
              </a:rPr>
              <a:t>Faculty may mark wrong entries, skip names, or misrecord dates — creating inaccurate academic records.</a:t>
            </a:r>
            <a:endParaRPr lang="en-US" sz="1000" dirty="0"/>
          </a:p>
        </p:txBody>
      </p:sp>
      <p:sp>
        <p:nvSpPr>
          <p:cNvPr id="20" name="Shape 18"/>
          <p:cNvSpPr/>
          <p:nvPr/>
        </p:nvSpPr>
        <p:spPr>
          <a:xfrm>
            <a:off x="365760" y="3218688"/>
            <a:ext cx="4160520" cy="1572768"/>
          </a:xfrm>
          <a:prstGeom prst="roundRect">
            <a:avLst>
              <a:gd name="adj" fmla="val 6977"/>
            </a:avLst>
          </a:prstGeom>
          <a:solidFill>
            <a:srgbClr val="1E293B"/>
          </a:solidFill>
          <a:ln/>
          <a:effectLst>
            <a:outerShdw sx="100000" sy="100000" kx="0" ky="0" algn="bl" rotWithShape="0" blurRad="127000" dist="50800" dir="2700000">
              <a:srgbClr val="000000">
                <a:alpha val="35000"/>
              </a:srgbClr>
            </a:outerShdw>
          </a:effectLst>
        </p:spPr>
      </p:sp>
      <p:sp>
        <p:nvSpPr>
          <p:cNvPr id="21" name="Shape 19"/>
          <p:cNvSpPr/>
          <p:nvPr/>
        </p:nvSpPr>
        <p:spPr>
          <a:xfrm>
            <a:off x="365760" y="3218688"/>
            <a:ext cx="54864" cy="1572768"/>
          </a:xfrm>
          <a:prstGeom prst="roundRect">
            <a:avLst>
              <a:gd name="adj" fmla="val 50000"/>
            </a:avLst>
          </a:prstGeom>
          <a:solidFill>
            <a:srgbClr val="818CF8"/>
          </a:solidFill>
          <a:ln/>
        </p:spPr>
      </p:sp>
      <p:sp>
        <p:nvSpPr>
          <p:cNvPr id="22" name="Shape 20"/>
          <p:cNvSpPr/>
          <p:nvPr/>
        </p:nvSpPr>
        <p:spPr>
          <a:xfrm>
            <a:off x="530352" y="3401568"/>
            <a:ext cx="594360" cy="594360"/>
          </a:xfrm>
          <a:prstGeom prst="ellipse">
            <a:avLst/>
          </a:prstGeom>
          <a:solidFill>
            <a:srgbClr val="818CF8">
              <a:alpha val="80000"/>
            </a:srgbClr>
          </a:solidFill>
          <a:ln/>
        </p:spPr>
      </p:sp>
      <p:sp>
        <p:nvSpPr>
          <p:cNvPr id="23" name="Text 21"/>
          <p:cNvSpPr/>
          <p:nvPr/>
        </p:nvSpPr>
        <p:spPr>
          <a:xfrm>
            <a:off x="530352" y="3401568"/>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1280160" y="3401568"/>
            <a:ext cx="3108960" cy="365760"/>
          </a:xfrm>
          <a:prstGeom prst="rect">
            <a:avLst/>
          </a:prstGeom>
          <a:noFill/>
          <a:ln/>
        </p:spPr>
        <p:txBody>
          <a:bodyPr wrap="square" lIns="0" tIns="0" rIns="0" bIns="0" rtlCol="0" anchor="ctr"/>
          <a:lstStyle/>
          <a:p>
            <a:pPr indent="0" marL="0">
              <a:buNone/>
            </a:pPr>
            <a:r>
              <a:rPr lang="en-US" sz="1400" b="1" dirty="0">
                <a:solidFill>
                  <a:srgbClr val="818CF8"/>
                </a:solidFill>
                <a:latin typeface="Calibri" pitchFamily="34" charset="0"/>
                <a:ea typeface="Calibri" pitchFamily="34" charset="-122"/>
                <a:cs typeface="Calibri" pitchFamily="34" charset="-120"/>
              </a:rPr>
              <a:t>Proxy Attendance</a:t>
            </a:r>
            <a:endParaRPr lang="en-US" sz="1400" dirty="0"/>
          </a:p>
        </p:txBody>
      </p:sp>
      <p:sp>
        <p:nvSpPr>
          <p:cNvPr id="25" name="Text 23"/>
          <p:cNvSpPr/>
          <p:nvPr/>
        </p:nvSpPr>
        <p:spPr>
          <a:xfrm>
            <a:off x="548640" y="3886200"/>
            <a:ext cx="3794760" cy="777240"/>
          </a:xfrm>
          <a:prstGeom prst="rect">
            <a:avLst/>
          </a:prstGeom>
          <a:noFill/>
          <a:ln/>
        </p:spPr>
        <p:txBody>
          <a:bodyPr wrap="square" lIns="0" tIns="0" rIns="0" bIns="0" rtlCol="0" anchor="ctr"/>
          <a:lstStyle/>
          <a:p>
            <a:pPr indent="0" marL="0">
              <a:buNone/>
            </a:pPr>
            <a:r>
              <a:rPr lang="en-US" sz="1000" dirty="0">
                <a:solidFill>
                  <a:srgbClr val="E3F2FD"/>
                </a:solidFill>
                <a:latin typeface="Calibri" pitchFamily="34" charset="0"/>
                <a:ea typeface="Calibri" pitchFamily="34" charset="-122"/>
                <a:cs typeface="Calibri" pitchFamily="34" charset="-120"/>
              </a:rPr>
              <a:t>Students can mark attendance for absent classmates — directly undermining academic integrity and reporting accuracy.</a:t>
            </a:r>
            <a:endParaRPr lang="en-US" sz="1000" dirty="0"/>
          </a:p>
        </p:txBody>
      </p:sp>
      <p:sp>
        <p:nvSpPr>
          <p:cNvPr id="26" name="Shape 24"/>
          <p:cNvSpPr/>
          <p:nvPr/>
        </p:nvSpPr>
        <p:spPr>
          <a:xfrm>
            <a:off x="4800600" y="3218688"/>
            <a:ext cx="4160520" cy="1572768"/>
          </a:xfrm>
          <a:prstGeom prst="roundRect">
            <a:avLst>
              <a:gd name="adj" fmla="val 6977"/>
            </a:avLst>
          </a:prstGeom>
          <a:solidFill>
            <a:srgbClr val="1E293B"/>
          </a:solidFill>
          <a:ln/>
          <a:effectLst>
            <a:outerShdw sx="100000" sy="100000" kx="0" ky="0" algn="bl" rotWithShape="0" blurRad="127000" dist="50800" dir="2700000">
              <a:srgbClr val="000000">
                <a:alpha val="35000"/>
              </a:srgbClr>
            </a:outerShdw>
          </a:effectLst>
        </p:spPr>
      </p:sp>
      <p:sp>
        <p:nvSpPr>
          <p:cNvPr id="27" name="Shape 25"/>
          <p:cNvSpPr/>
          <p:nvPr/>
        </p:nvSpPr>
        <p:spPr>
          <a:xfrm>
            <a:off x="4800600" y="3218688"/>
            <a:ext cx="54864" cy="1572768"/>
          </a:xfrm>
          <a:prstGeom prst="roundRect">
            <a:avLst>
              <a:gd name="adj" fmla="val 50000"/>
            </a:avLst>
          </a:prstGeom>
          <a:solidFill>
            <a:srgbClr val="00B4D8"/>
          </a:solidFill>
          <a:ln/>
        </p:spPr>
      </p:sp>
      <p:sp>
        <p:nvSpPr>
          <p:cNvPr id="28" name="Shape 26"/>
          <p:cNvSpPr/>
          <p:nvPr/>
        </p:nvSpPr>
        <p:spPr>
          <a:xfrm>
            <a:off x="4965192" y="3401568"/>
            <a:ext cx="594360" cy="594360"/>
          </a:xfrm>
          <a:prstGeom prst="ellipse">
            <a:avLst/>
          </a:prstGeom>
          <a:solidFill>
            <a:srgbClr val="00B4D8">
              <a:alpha val="80000"/>
            </a:srgbClr>
          </a:solidFill>
          <a:ln/>
        </p:spPr>
      </p:sp>
      <p:sp>
        <p:nvSpPr>
          <p:cNvPr id="29" name="Text 27"/>
          <p:cNvSpPr/>
          <p:nvPr/>
        </p:nvSpPr>
        <p:spPr>
          <a:xfrm>
            <a:off x="4965192" y="3401568"/>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Text 28"/>
          <p:cNvSpPr/>
          <p:nvPr/>
        </p:nvSpPr>
        <p:spPr>
          <a:xfrm>
            <a:off x="5715000" y="3401568"/>
            <a:ext cx="3108960" cy="365760"/>
          </a:xfrm>
          <a:prstGeom prst="rect">
            <a:avLst/>
          </a:prstGeom>
          <a:noFill/>
          <a:ln/>
        </p:spPr>
        <p:txBody>
          <a:bodyPr wrap="square" lIns="0" tIns="0" rIns="0" bIns="0"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Difficult to Scale</a:t>
            </a:r>
            <a:endParaRPr lang="en-US" sz="1400" dirty="0"/>
          </a:p>
        </p:txBody>
      </p:sp>
      <p:sp>
        <p:nvSpPr>
          <p:cNvPr id="31" name="Text 29"/>
          <p:cNvSpPr/>
          <p:nvPr/>
        </p:nvSpPr>
        <p:spPr>
          <a:xfrm>
            <a:off x="4983480" y="3886200"/>
            <a:ext cx="3794760" cy="777240"/>
          </a:xfrm>
          <a:prstGeom prst="rect">
            <a:avLst/>
          </a:prstGeom>
          <a:noFill/>
          <a:ln/>
        </p:spPr>
        <p:txBody>
          <a:bodyPr wrap="square" lIns="0" tIns="0" rIns="0" bIns="0" rtlCol="0" anchor="ctr"/>
          <a:lstStyle/>
          <a:p>
            <a:pPr indent="0" marL="0">
              <a:buNone/>
            </a:pPr>
            <a:r>
              <a:rPr lang="en-US" sz="1000" dirty="0">
                <a:solidFill>
                  <a:srgbClr val="E3F2FD"/>
                </a:solidFill>
                <a:latin typeface="Calibri" pitchFamily="34" charset="0"/>
                <a:ea typeface="Calibri" pitchFamily="34" charset="-122"/>
                <a:cs typeface="Calibri" pitchFamily="34" charset="-120"/>
              </a:rPr>
              <a:t>Managing large batches, multiple sections, and bulk data becomes unmanageable without an automated digital solution.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10B981"/>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04  PROJECT OBJECTIVES</a:t>
            </a:r>
            <a:endParaRPr lang="en-US" sz="2600" dirty="0"/>
          </a:p>
        </p:txBody>
      </p:sp>
      <p:sp>
        <p:nvSpPr>
          <p:cNvPr id="5" name="Shape 3"/>
          <p:cNvSpPr/>
          <p:nvPr/>
        </p:nvSpPr>
        <p:spPr>
          <a:xfrm>
            <a:off x="0" y="850392"/>
            <a:ext cx="9144000" cy="36576"/>
          </a:xfrm>
          <a:prstGeom prst="rect">
            <a:avLst/>
          </a:prstGeom>
          <a:solidFill>
            <a:srgbClr val="10B981">
              <a:alpha val="40000"/>
            </a:srgbClr>
          </a:solidFill>
          <a:ln/>
        </p:spPr>
      </p:sp>
      <p:sp>
        <p:nvSpPr>
          <p:cNvPr id="6" name="Shape 4"/>
          <p:cNvSpPr/>
          <p:nvPr/>
        </p:nvSpPr>
        <p:spPr>
          <a:xfrm>
            <a:off x="8732520" y="201168"/>
            <a:ext cx="256032" cy="256032"/>
          </a:xfrm>
          <a:prstGeom prst="ellipse">
            <a:avLst/>
          </a:prstGeom>
          <a:solidFill>
            <a:srgbClr val="10B981">
              <a:alpha val="70000"/>
            </a:srgbClr>
          </a:solidFill>
          <a:ln/>
        </p:spPr>
      </p:sp>
      <p:sp>
        <p:nvSpPr>
          <p:cNvPr id="7" name="Shape 5"/>
          <p:cNvSpPr/>
          <p:nvPr/>
        </p:nvSpPr>
        <p:spPr>
          <a:xfrm>
            <a:off x="365760" y="98755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65760" y="987552"/>
            <a:ext cx="54864" cy="713232"/>
          </a:xfrm>
          <a:prstGeom prst="roundRect">
            <a:avLst>
              <a:gd name="adj" fmla="val 50000"/>
            </a:avLst>
          </a:prstGeom>
          <a:solidFill>
            <a:srgbClr val="38BDF8"/>
          </a:solidFill>
          <a:ln/>
        </p:spPr>
      </p:sp>
      <p:sp>
        <p:nvSpPr>
          <p:cNvPr id="9" name="Shape 7"/>
          <p:cNvSpPr/>
          <p:nvPr/>
        </p:nvSpPr>
        <p:spPr>
          <a:xfrm>
            <a:off x="594360" y="1097280"/>
            <a:ext cx="493776" cy="493776"/>
          </a:xfrm>
          <a:prstGeom prst="ellipse">
            <a:avLst/>
          </a:prstGeom>
          <a:solidFill>
            <a:srgbClr val="38BDF8"/>
          </a:solidFill>
          <a:ln/>
        </p:spPr>
      </p:sp>
      <p:sp>
        <p:nvSpPr>
          <p:cNvPr id="10" name="Text 8"/>
          <p:cNvSpPr/>
          <p:nvPr/>
        </p:nvSpPr>
        <p:spPr>
          <a:xfrm>
            <a:off x="594360" y="1097280"/>
            <a:ext cx="493776" cy="493776"/>
          </a:xfrm>
          <a:prstGeom prst="rect">
            <a:avLst/>
          </a:prstGeom>
          <a:noFill/>
          <a:ln/>
        </p:spPr>
        <p:txBody>
          <a:bodyPr wrap="square" lIns="0" tIns="0" rIns="0" bIns="0" rtlCol="0" anchor="ctr"/>
          <a:lstStyle/>
          <a:p>
            <a:pPr algn="ctr" indent="0" marL="0">
              <a:buNone/>
            </a:pPr>
            <a:r>
              <a:rPr lang="en-US" sz="1000" b="1" dirty="0">
                <a:solidFill>
                  <a:srgbClr val="0A0E27"/>
                </a:solidFill>
              </a:rPr>
              <a:t>01</a:t>
            </a:r>
            <a:endParaRPr lang="en-US" sz="1000" dirty="0"/>
          </a:p>
        </p:txBody>
      </p:sp>
      <p:sp>
        <p:nvSpPr>
          <p:cNvPr id="11" name="Text 9"/>
          <p:cNvSpPr/>
          <p:nvPr/>
        </p:nvSpPr>
        <p:spPr>
          <a:xfrm>
            <a:off x="1234440" y="1078992"/>
            <a:ext cx="3657600" cy="32004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Automate Attendance</a:t>
            </a:r>
            <a:endParaRPr lang="en-US" sz="1300" dirty="0"/>
          </a:p>
        </p:txBody>
      </p:sp>
      <p:sp>
        <p:nvSpPr>
          <p:cNvPr id="12" name="Text 10"/>
          <p:cNvSpPr/>
          <p:nvPr/>
        </p:nvSpPr>
        <p:spPr>
          <a:xfrm>
            <a:off x="1234440" y="1371600"/>
            <a:ext cx="50292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Replace manual roll calls with real-time DeepFace AI recognition.</a:t>
            </a:r>
            <a:endParaRPr lang="en-US" sz="1000" dirty="0"/>
          </a:p>
        </p:txBody>
      </p:sp>
      <p:sp>
        <p:nvSpPr>
          <p:cNvPr id="13" name="Shape 11"/>
          <p:cNvSpPr/>
          <p:nvPr/>
        </p:nvSpPr>
        <p:spPr>
          <a:xfrm>
            <a:off x="6583680" y="1207008"/>
            <a:ext cx="2011680" cy="274320"/>
          </a:xfrm>
          <a:prstGeom prst="roundRect">
            <a:avLst>
              <a:gd name="adj" fmla="val 26667"/>
            </a:avLst>
          </a:prstGeom>
          <a:solidFill>
            <a:srgbClr val="0F172A"/>
          </a:solidFill>
          <a:ln/>
        </p:spPr>
      </p:sp>
      <p:sp>
        <p:nvSpPr>
          <p:cNvPr id="14" name="Shape 12"/>
          <p:cNvSpPr/>
          <p:nvPr/>
        </p:nvSpPr>
        <p:spPr>
          <a:xfrm>
            <a:off x="6583680" y="1207008"/>
            <a:ext cx="1911096" cy="274320"/>
          </a:xfrm>
          <a:prstGeom prst="roundRect">
            <a:avLst>
              <a:gd name="adj" fmla="val 26667"/>
            </a:avLst>
          </a:prstGeom>
          <a:solidFill>
            <a:srgbClr val="38BDF8"/>
          </a:solidFill>
          <a:ln/>
        </p:spPr>
      </p:sp>
      <p:sp>
        <p:nvSpPr>
          <p:cNvPr id="15" name="Text 13"/>
          <p:cNvSpPr/>
          <p:nvPr/>
        </p:nvSpPr>
        <p:spPr>
          <a:xfrm>
            <a:off x="8641080" y="1207008"/>
            <a:ext cx="411480" cy="274320"/>
          </a:xfrm>
          <a:prstGeom prst="rect">
            <a:avLst/>
          </a:prstGeom>
          <a:noFill/>
          <a:ln/>
        </p:spPr>
        <p:txBody>
          <a:bodyPr wrap="square" lIns="0" tIns="0" rIns="0" bIns="0" rtlCol="0" anchor="ctr"/>
          <a:lstStyle/>
          <a:p>
            <a:pPr indent="0" marL="0">
              <a:buNone/>
            </a:pPr>
            <a:r>
              <a:rPr lang="en-US" sz="900" b="1" dirty="0">
                <a:solidFill>
                  <a:srgbClr val="38BDF8"/>
                </a:solidFill>
              </a:rPr>
              <a:t>95%</a:t>
            </a:r>
            <a:endParaRPr lang="en-US" sz="900" dirty="0"/>
          </a:p>
        </p:txBody>
      </p:sp>
      <p:sp>
        <p:nvSpPr>
          <p:cNvPr id="16" name="Shape 14"/>
          <p:cNvSpPr/>
          <p:nvPr/>
        </p:nvSpPr>
        <p:spPr>
          <a:xfrm>
            <a:off x="365760" y="181051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17" name="Shape 15"/>
          <p:cNvSpPr/>
          <p:nvPr/>
        </p:nvSpPr>
        <p:spPr>
          <a:xfrm>
            <a:off x="365760" y="1810512"/>
            <a:ext cx="54864" cy="713232"/>
          </a:xfrm>
          <a:prstGeom prst="roundRect">
            <a:avLst>
              <a:gd name="adj" fmla="val 50000"/>
            </a:avLst>
          </a:prstGeom>
          <a:solidFill>
            <a:srgbClr val="10B981"/>
          </a:solidFill>
          <a:ln/>
        </p:spPr>
      </p:sp>
      <p:sp>
        <p:nvSpPr>
          <p:cNvPr id="18" name="Shape 16"/>
          <p:cNvSpPr/>
          <p:nvPr/>
        </p:nvSpPr>
        <p:spPr>
          <a:xfrm>
            <a:off x="594360" y="1920240"/>
            <a:ext cx="493776" cy="493776"/>
          </a:xfrm>
          <a:prstGeom prst="ellipse">
            <a:avLst/>
          </a:prstGeom>
          <a:solidFill>
            <a:srgbClr val="10B981"/>
          </a:solidFill>
          <a:ln/>
        </p:spPr>
      </p:sp>
      <p:sp>
        <p:nvSpPr>
          <p:cNvPr id="19" name="Text 17"/>
          <p:cNvSpPr/>
          <p:nvPr/>
        </p:nvSpPr>
        <p:spPr>
          <a:xfrm>
            <a:off x="594360" y="1920240"/>
            <a:ext cx="493776" cy="493776"/>
          </a:xfrm>
          <a:prstGeom prst="rect">
            <a:avLst/>
          </a:prstGeom>
          <a:noFill/>
          <a:ln/>
        </p:spPr>
        <p:txBody>
          <a:bodyPr wrap="square" lIns="0" tIns="0" rIns="0" bIns="0" rtlCol="0" anchor="ctr"/>
          <a:lstStyle/>
          <a:p>
            <a:pPr algn="ctr" indent="0" marL="0">
              <a:buNone/>
            </a:pPr>
            <a:r>
              <a:rPr lang="en-US" sz="1000" b="1" dirty="0">
                <a:solidFill>
                  <a:srgbClr val="0A0E27"/>
                </a:solidFill>
              </a:rPr>
              <a:t>02</a:t>
            </a:r>
            <a:endParaRPr lang="en-US" sz="1000" dirty="0"/>
          </a:p>
        </p:txBody>
      </p:sp>
      <p:sp>
        <p:nvSpPr>
          <p:cNvPr id="20" name="Text 18"/>
          <p:cNvSpPr/>
          <p:nvPr/>
        </p:nvSpPr>
        <p:spPr>
          <a:xfrm>
            <a:off x="1234440" y="1901952"/>
            <a:ext cx="3657600" cy="32004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Improve Accuracy</a:t>
            </a:r>
            <a:endParaRPr lang="en-US" sz="1300" dirty="0"/>
          </a:p>
        </p:txBody>
      </p:sp>
      <p:sp>
        <p:nvSpPr>
          <p:cNvPr id="21" name="Text 19"/>
          <p:cNvSpPr/>
          <p:nvPr/>
        </p:nvSpPr>
        <p:spPr>
          <a:xfrm>
            <a:off x="1234440" y="2194560"/>
            <a:ext cx="50292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Facenet512 model delivers high-accuracy 128D face embedding matching.</a:t>
            </a:r>
            <a:endParaRPr lang="en-US" sz="1000" dirty="0"/>
          </a:p>
        </p:txBody>
      </p:sp>
      <p:sp>
        <p:nvSpPr>
          <p:cNvPr id="22" name="Shape 20"/>
          <p:cNvSpPr/>
          <p:nvPr/>
        </p:nvSpPr>
        <p:spPr>
          <a:xfrm>
            <a:off x="6583680" y="2029968"/>
            <a:ext cx="2011680" cy="274320"/>
          </a:xfrm>
          <a:prstGeom prst="roundRect">
            <a:avLst>
              <a:gd name="adj" fmla="val 26667"/>
            </a:avLst>
          </a:prstGeom>
          <a:solidFill>
            <a:srgbClr val="0F172A"/>
          </a:solidFill>
          <a:ln/>
        </p:spPr>
      </p:sp>
      <p:sp>
        <p:nvSpPr>
          <p:cNvPr id="23" name="Shape 21"/>
          <p:cNvSpPr/>
          <p:nvPr/>
        </p:nvSpPr>
        <p:spPr>
          <a:xfrm>
            <a:off x="6583680" y="2029968"/>
            <a:ext cx="1850746" cy="274320"/>
          </a:xfrm>
          <a:prstGeom prst="roundRect">
            <a:avLst>
              <a:gd name="adj" fmla="val 26667"/>
            </a:avLst>
          </a:prstGeom>
          <a:solidFill>
            <a:srgbClr val="10B981"/>
          </a:solidFill>
          <a:ln/>
        </p:spPr>
      </p:sp>
      <p:sp>
        <p:nvSpPr>
          <p:cNvPr id="24" name="Text 22"/>
          <p:cNvSpPr/>
          <p:nvPr/>
        </p:nvSpPr>
        <p:spPr>
          <a:xfrm>
            <a:off x="8641080" y="2029968"/>
            <a:ext cx="411480" cy="274320"/>
          </a:xfrm>
          <a:prstGeom prst="rect">
            <a:avLst/>
          </a:prstGeom>
          <a:noFill/>
          <a:ln/>
        </p:spPr>
        <p:txBody>
          <a:bodyPr wrap="square" lIns="0" tIns="0" rIns="0" bIns="0" rtlCol="0" anchor="ctr"/>
          <a:lstStyle/>
          <a:p>
            <a:pPr indent="0" marL="0">
              <a:buNone/>
            </a:pPr>
            <a:r>
              <a:rPr lang="en-US" sz="900" b="1" dirty="0">
                <a:solidFill>
                  <a:srgbClr val="10B981"/>
                </a:solidFill>
              </a:rPr>
              <a:t>92%</a:t>
            </a:r>
            <a:endParaRPr lang="en-US" sz="900" dirty="0"/>
          </a:p>
        </p:txBody>
      </p:sp>
      <p:sp>
        <p:nvSpPr>
          <p:cNvPr id="25" name="Shape 23"/>
          <p:cNvSpPr/>
          <p:nvPr/>
        </p:nvSpPr>
        <p:spPr>
          <a:xfrm>
            <a:off x="365760" y="263347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26" name="Shape 24"/>
          <p:cNvSpPr/>
          <p:nvPr/>
        </p:nvSpPr>
        <p:spPr>
          <a:xfrm>
            <a:off x="365760" y="2633472"/>
            <a:ext cx="54864" cy="713232"/>
          </a:xfrm>
          <a:prstGeom prst="roundRect">
            <a:avLst>
              <a:gd name="adj" fmla="val 50000"/>
            </a:avLst>
          </a:prstGeom>
          <a:solidFill>
            <a:srgbClr val="F59E0B"/>
          </a:solidFill>
          <a:ln/>
        </p:spPr>
      </p:sp>
      <p:sp>
        <p:nvSpPr>
          <p:cNvPr id="27" name="Shape 25"/>
          <p:cNvSpPr/>
          <p:nvPr/>
        </p:nvSpPr>
        <p:spPr>
          <a:xfrm>
            <a:off x="594360" y="2743200"/>
            <a:ext cx="493776" cy="493776"/>
          </a:xfrm>
          <a:prstGeom prst="ellipse">
            <a:avLst/>
          </a:prstGeom>
          <a:solidFill>
            <a:srgbClr val="F59E0B"/>
          </a:solidFill>
          <a:ln/>
        </p:spPr>
      </p:sp>
      <p:sp>
        <p:nvSpPr>
          <p:cNvPr id="28" name="Text 26"/>
          <p:cNvSpPr/>
          <p:nvPr/>
        </p:nvSpPr>
        <p:spPr>
          <a:xfrm>
            <a:off x="594360" y="2743200"/>
            <a:ext cx="493776" cy="493776"/>
          </a:xfrm>
          <a:prstGeom prst="rect">
            <a:avLst/>
          </a:prstGeom>
          <a:noFill/>
          <a:ln/>
        </p:spPr>
        <p:txBody>
          <a:bodyPr wrap="square" lIns="0" tIns="0" rIns="0" bIns="0" rtlCol="0" anchor="ctr"/>
          <a:lstStyle/>
          <a:p>
            <a:pPr algn="ctr" indent="0" marL="0">
              <a:buNone/>
            </a:pPr>
            <a:r>
              <a:rPr lang="en-US" sz="1000" b="1" dirty="0">
                <a:solidFill>
                  <a:srgbClr val="0A0E27"/>
                </a:solidFill>
              </a:rPr>
              <a:t>03</a:t>
            </a:r>
            <a:endParaRPr lang="en-US" sz="1000" dirty="0"/>
          </a:p>
        </p:txBody>
      </p:sp>
      <p:sp>
        <p:nvSpPr>
          <p:cNvPr id="29" name="Text 27"/>
          <p:cNvSpPr/>
          <p:nvPr/>
        </p:nvSpPr>
        <p:spPr>
          <a:xfrm>
            <a:off x="1234440" y="2724912"/>
            <a:ext cx="365760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Reduce Manual Effort</a:t>
            </a:r>
            <a:endParaRPr lang="en-US" sz="1300" dirty="0"/>
          </a:p>
        </p:txBody>
      </p:sp>
      <p:sp>
        <p:nvSpPr>
          <p:cNvPr id="30" name="Text 28"/>
          <p:cNvSpPr/>
          <p:nvPr/>
        </p:nvSpPr>
        <p:spPr>
          <a:xfrm>
            <a:off x="1234440" y="3017520"/>
            <a:ext cx="50292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Eliminate paperwork — faculty focus on teaching, not admin tasks.</a:t>
            </a:r>
            <a:endParaRPr lang="en-US" sz="1000" dirty="0"/>
          </a:p>
        </p:txBody>
      </p:sp>
      <p:sp>
        <p:nvSpPr>
          <p:cNvPr id="31" name="Shape 29"/>
          <p:cNvSpPr/>
          <p:nvPr/>
        </p:nvSpPr>
        <p:spPr>
          <a:xfrm>
            <a:off x="6583680" y="2852928"/>
            <a:ext cx="2011680" cy="274320"/>
          </a:xfrm>
          <a:prstGeom prst="roundRect">
            <a:avLst>
              <a:gd name="adj" fmla="val 26667"/>
            </a:avLst>
          </a:prstGeom>
          <a:solidFill>
            <a:srgbClr val="0F172A"/>
          </a:solidFill>
          <a:ln/>
        </p:spPr>
      </p:sp>
      <p:sp>
        <p:nvSpPr>
          <p:cNvPr id="32" name="Shape 30"/>
          <p:cNvSpPr/>
          <p:nvPr/>
        </p:nvSpPr>
        <p:spPr>
          <a:xfrm>
            <a:off x="6583680" y="2852928"/>
            <a:ext cx="2011680" cy="274320"/>
          </a:xfrm>
          <a:prstGeom prst="roundRect">
            <a:avLst>
              <a:gd name="adj" fmla="val 26667"/>
            </a:avLst>
          </a:prstGeom>
          <a:solidFill>
            <a:srgbClr val="F59E0B"/>
          </a:solidFill>
          <a:ln/>
        </p:spPr>
      </p:sp>
      <p:sp>
        <p:nvSpPr>
          <p:cNvPr id="33" name="Text 31"/>
          <p:cNvSpPr/>
          <p:nvPr/>
        </p:nvSpPr>
        <p:spPr>
          <a:xfrm>
            <a:off x="8641080" y="2852928"/>
            <a:ext cx="411480" cy="274320"/>
          </a:xfrm>
          <a:prstGeom prst="rect">
            <a:avLst/>
          </a:prstGeom>
          <a:noFill/>
          <a:ln/>
        </p:spPr>
        <p:txBody>
          <a:bodyPr wrap="square" lIns="0" tIns="0" rIns="0" bIns="0" rtlCol="0" anchor="ctr"/>
          <a:lstStyle/>
          <a:p>
            <a:pPr indent="0" marL="0">
              <a:buNone/>
            </a:pPr>
            <a:r>
              <a:rPr lang="en-US" sz="900" b="1" dirty="0">
                <a:solidFill>
                  <a:srgbClr val="F59E0B"/>
                </a:solidFill>
              </a:rPr>
              <a:t>100%</a:t>
            </a:r>
            <a:endParaRPr lang="en-US" sz="900" dirty="0"/>
          </a:p>
        </p:txBody>
      </p:sp>
      <p:sp>
        <p:nvSpPr>
          <p:cNvPr id="34" name="Shape 32"/>
          <p:cNvSpPr/>
          <p:nvPr/>
        </p:nvSpPr>
        <p:spPr>
          <a:xfrm>
            <a:off x="365760" y="345643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35" name="Shape 33"/>
          <p:cNvSpPr/>
          <p:nvPr/>
        </p:nvSpPr>
        <p:spPr>
          <a:xfrm>
            <a:off x="365760" y="3456432"/>
            <a:ext cx="54864" cy="713232"/>
          </a:xfrm>
          <a:prstGeom prst="roundRect">
            <a:avLst>
              <a:gd name="adj" fmla="val 50000"/>
            </a:avLst>
          </a:prstGeom>
          <a:solidFill>
            <a:srgbClr val="EF4444"/>
          </a:solidFill>
          <a:ln/>
        </p:spPr>
      </p:sp>
      <p:sp>
        <p:nvSpPr>
          <p:cNvPr id="36" name="Shape 34"/>
          <p:cNvSpPr/>
          <p:nvPr/>
        </p:nvSpPr>
        <p:spPr>
          <a:xfrm>
            <a:off x="594360" y="3566160"/>
            <a:ext cx="493776" cy="493776"/>
          </a:xfrm>
          <a:prstGeom prst="ellipse">
            <a:avLst/>
          </a:prstGeom>
          <a:solidFill>
            <a:srgbClr val="EF4444"/>
          </a:solidFill>
          <a:ln/>
        </p:spPr>
      </p:sp>
      <p:sp>
        <p:nvSpPr>
          <p:cNvPr id="37" name="Text 35"/>
          <p:cNvSpPr/>
          <p:nvPr/>
        </p:nvSpPr>
        <p:spPr>
          <a:xfrm>
            <a:off x="594360" y="3566160"/>
            <a:ext cx="493776" cy="493776"/>
          </a:xfrm>
          <a:prstGeom prst="rect">
            <a:avLst/>
          </a:prstGeom>
          <a:noFill/>
          <a:ln/>
        </p:spPr>
        <p:txBody>
          <a:bodyPr wrap="square" lIns="0" tIns="0" rIns="0" bIns="0" rtlCol="0" anchor="ctr"/>
          <a:lstStyle/>
          <a:p>
            <a:pPr algn="ctr" indent="0" marL="0">
              <a:buNone/>
            </a:pPr>
            <a:r>
              <a:rPr lang="en-US" sz="1000" b="1" dirty="0">
                <a:solidFill>
                  <a:srgbClr val="0A0E27"/>
                </a:solidFill>
              </a:rPr>
              <a:t>04</a:t>
            </a:r>
            <a:endParaRPr lang="en-US" sz="1000" dirty="0"/>
          </a:p>
        </p:txBody>
      </p:sp>
      <p:sp>
        <p:nvSpPr>
          <p:cNvPr id="38" name="Text 36"/>
          <p:cNvSpPr/>
          <p:nvPr/>
        </p:nvSpPr>
        <p:spPr>
          <a:xfrm>
            <a:off x="1234440" y="3547872"/>
            <a:ext cx="365760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Prevent Proxy Attendance</a:t>
            </a:r>
            <a:endParaRPr lang="en-US" sz="1300" dirty="0"/>
          </a:p>
        </p:txBody>
      </p:sp>
      <p:sp>
        <p:nvSpPr>
          <p:cNvPr id="39" name="Text 37"/>
          <p:cNvSpPr/>
          <p:nvPr/>
        </p:nvSpPr>
        <p:spPr>
          <a:xfrm>
            <a:off x="1234440" y="3840480"/>
            <a:ext cx="50292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Physical presence verified by live face — no impersonation possible.</a:t>
            </a:r>
            <a:endParaRPr lang="en-US" sz="1000" dirty="0"/>
          </a:p>
        </p:txBody>
      </p:sp>
      <p:sp>
        <p:nvSpPr>
          <p:cNvPr id="40" name="Shape 38"/>
          <p:cNvSpPr/>
          <p:nvPr/>
        </p:nvSpPr>
        <p:spPr>
          <a:xfrm>
            <a:off x="6583680" y="3675888"/>
            <a:ext cx="2011680" cy="274320"/>
          </a:xfrm>
          <a:prstGeom prst="roundRect">
            <a:avLst>
              <a:gd name="adj" fmla="val 26667"/>
            </a:avLst>
          </a:prstGeom>
          <a:solidFill>
            <a:srgbClr val="0F172A"/>
          </a:solidFill>
          <a:ln/>
        </p:spPr>
      </p:sp>
      <p:sp>
        <p:nvSpPr>
          <p:cNvPr id="41" name="Shape 39"/>
          <p:cNvSpPr/>
          <p:nvPr/>
        </p:nvSpPr>
        <p:spPr>
          <a:xfrm>
            <a:off x="6583680" y="3675888"/>
            <a:ext cx="2011680" cy="274320"/>
          </a:xfrm>
          <a:prstGeom prst="roundRect">
            <a:avLst>
              <a:gd name="adj" fmla="val 26667"/>
            </a:avLst>
          </a:prstGeom>
          <a:solidFill>
            <a:srgbClr val="EF4444"/>
          </a:solidFill>
          <a:ln/>
        </p:spPr>
      </p:sp>
      <p:sp>
        <p:nvSpPr>
          <p:cNvPr id="42" name="Text 40"/>
          <p:cNvSpPr/>
          <p:nvPr/>
        </p:nvSpPr>
        <p:spPr>
          <a:xfrm>
            <a:off x="8641080" y="3675888"/>
            <a:ext cx="411480" cy="274320"/>
          </a:xfrm>
          <a:prstGeom prst="rect">
            <a:avLst/>
          </a:prstGeom>
          <a:noFill/>
          <a:ln/>
        </p:spPr>
        <p:txBody>
          <a:bodyPr wrap="square" lIns="0" tIns="0" rIns="0" bIns="0" rtlCol="0" anchor="ctr"/>
          <a:lstStyle/>
          <a:p>
            <a:pPr indent="0" marL="0">
              <a:buNone/>
            </a:pPr>
            <a:r>
              <a:rPr lang="en-US" sz="900" b="1" dirty="0">
                <a:solidFill>
                  <a:srgbClr val="EF4444"/>
                </a:solidFill>
              </a:rPr>
              <a:t>100%</a:t>
            </a:r>
            <a:endParaRPr lang="en-US" sz="900" dirty="0"/>
          </a:p>
        </p:txBody>
      </p:sp>
      <p:sp>
        <p:nvSpPr>
          <p:cNvPr id="43" name="Shape 41"/>
          <p:cNvSpPr/>
          <p:nvPr/>
        </p:nvSpPr>
        <p:spPr>
          <a:xfrm>
            <a:off x="365760" y="427939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44" name="Shape 42"/>
          <p:cNvSpPr/>
          <p:nvPr/>
        </p:nvSpPr>
        <p:spPr>
          <a:xfrm>
            <a:off x="365760" y="4279392"/>
            <a:ext cx="54864" cy="713232"/>
          </a:xfrm>
          <a:prstGeom prst="roundRect">
            <a:avLst>
              <a:gd name="adj" fmla="val 50000"/>
            </a:avLst>
          </a:prstGeom>
          <a:solidFill>
            <a:srgbClr val="818CF8"/>
          </a:solidFill>
          <a:ln/>
        </p:spPr>
      </p:sp>
      <p:sp>
        <p:nvSpPr>
          <p:cNvPr id="45" name="Shape 43"/>
          <p:cNvSpPr/>
          <p:nvPr/>
        </p:nvSpPr>
        <p:spPr>
          <a:xfrm>
            <a:off x="594360" y="4389120"/>
            <a:ext cx="493776" cy="493776"/>
          </a:xfrm>
          <a:prstGeom prst="ellipse">
            <a:avLst/>
          </a:prstGeom>
          <a:solidFill>
            <a:srgbClr val="818CF8"/>
          </a:solidFill>
          <a:ln/>
        </p:spPr>
      </p:sp>
      <p:sp>
        <p:nvSpPr>
          <p:cNvPr id="46" name="Text 44"/>
          <p:cNvSpPr/>
          <p:nvPr/>
        </p:nvSpPr>
        <p:spPr>
          <a:xfrm>
            <a:off x="594360" y="4389120"/>
            <a:ext cx="493776" cy="493776"/>
          </a:xfrm>
          <a:prstGeom prst="rect">
            <a:avLst/>
          </a:prstGeom>
          <a:noFill/>
          <a:ln/>
        </p:spPr>
        <p:txBody>
          <a:bodyPr wrap="square" lIns="0" tIns="0" rIns="0" bIns="0" rtlCol="0" anchor="ctr"/>
          <a:lstStyle/>
          <a:p>
            <a:pPr algn="ctr" indent="0" marL="0">
              <a:buNone/>
            </a:pPr>
            <a:r>
              <a:rPr lang="en-US" sz="1000" b="1" dirty="0">
                <a:solidFill>
                  <a:srgbClr val="0A0E27"/>
                </a:solidFill>
              </a:rPr>
              <a:t>05</a:t>
            </a:r>
            <a:endParaRPr lang="en-US" sz="1000" dirty="0"/>
          </a:p>
        </p:txBody>
      </p:sp>
      <p:sp>
        <p:nvSpPr>
          <p:cNvPr id="47" name="Text 45"/>
          <p:cNvSpPr/>
          <p:nvPr/>
        </p:nvSpPr>
        <p:spPr>
          <a:xfrm>
            <a:off x="1234440" y="4370832"/>
            <a:ext cx="3657600" cy="320040"/>
          </a:xfrm>
          <a:prstGeom prst="rect">
            <a:avLst/>
          </a:prstGeom>
          <a:noFill/>
          <a:ln/>
        </p:spPr>
        <p:txBody>
          <a:bodyPr wrap="square" lIns="0" tIns="0" rIns="0" bIns="0" rtlCol="0" anchor="ctr"/>
          <a:lstStyle/>
          <a:p>
            <a:pPr indent="0" marL="0">
              <a:buNone/>
            </a:pPr>
            <a:r>
              <a:rPr lang="en-US" sz="1300" b="1" dirty="0">
                <a:solidFill>
                  <a:srgbClr val="818CF8"/>
                </a:solidFill>
                <a:latin typeface="Calibri" pitchFamily="34" charset="0"/>
                <a:ea typeface="Calibri" pitchFamily="34" charset="-122"/>
                <a:cs typeface="Calibri" pitchFamily="34" charset="-120"/>
              </a:rPr>
              <a:t>Digital Record Keeping</a:t>
            </a:r>
            <a:endParaRPr lang="en-US" sz="1300" dirty="0"/>
          </a:p>
        </p:txBody>
      </p:sp>
      <p:sp>
        <p:nvSpPr>
          <p:cNvPr id="48" name="Text 46"/>
          <p:cNvSpPr/>
          <p:nvPr/>
        </p:nvSpPr>
        <p:spPr>
          <a:xfrm>
            <a:off x="1234440" y="4663440"/>
            <a:ext cx="50292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All data stored in SQLite DB and exportable as CSV anytime.</a:t>
            </a:r>
            <a:endParaRPr lang="en-US" sz="1000" dirty="0"/>
          </a:p>
        </p:txBody>
      </p:sp>
      <p:sp>
        <p:nvSpPr>
          <p:cNvPr id="49" name="Shape 47"/>
          <p:cNvSpPr/>
          <p:nvPr/>
        </p:nvSpPr>
        <p:spPr>
          <a:xfrm>
            <a:off x="6583680" y="4498848"/>
            <a:ext cx="2011680" cy="274320"/>
          </a:xfrm>
          <a:prstGeom prst="roundRect">
            <a:avLst>
              <a:gd name="adj" fmla="val 26667"/>
            </a:avLst>
          </a:prstGeom>
          <a:solidFill>
            <a:srgbClr val="0F172A"/>
          </a:solidFill>
          <a:ln/>
        </p:spPr>
      </p:sp>
      <p:sp>
        <p:nvSpPr>
          <p:cNvPr id="50" name="Shape 48"/>
          <p:cNvSpPr/>
          <p:nvPr/>
        </p:nvSpPr>
        <p:spPr>
          <a:xfrm>
            <a:off x="6583680" y="4498848"/>
            <a:ext cx="1810512" cy="274320"/>
          </a:xfrm>
          <a:prstGeom prst="roundRect">
            <a:avLst>
              <a:gd name="adj" fmla="val 26667"/>
            </a:avLst>
          </a:prstGeom>
          <a:solidFill>
            <a:srgbClr val="818CF8"/>
          </a:solidFill>
          <a:ln/>
        </p:spPr>
      </p:sp>
      <p:sp>
        <p:nvSpPr>
          <p:cNvPr id="51" name="Text 49"/>
          <p:cNvSpPr/>
          <p:nvPr/>
        </p:nvSpPr>
        <p:spPr>
          <a:xfrm>
            <a:off x="8641080" y="4498848"/>
            <a:ext cx="411480" cy="274320"/>
          </a:xfrm>
          <a:prstGeom prst="rect">
            <a:avLst/>
          </a:prstGeom>
          <a:noFill/>
          <a:ln/>
        </p:spPr>
        <p:txBody>
          <a:bodyPr wrap="square" lIns="0" tIns="0" rIns="0" bIns="0" rtlCol="0" anchor="ctr"/>
          <a:lstStyle/>
          <a:p>
            <a:pPr indent="0" marL="0">
              <a:buNone/>
            </a:pPr>
            <a:r>
              <a:rPr lang="en-US" sz="900" b="1" dirty="0">
                <a:solidFill>
                  <a:srgbClr val="818CF8"/>
                </a:solidFill>
              </a:rPr>
              <a:t>90%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818CF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05  TECHNOLOGY STACK</a:t>
            </a:r>
            <a:endParaRPr lang="en-US" sz="2600" dirty="0"/>
          </a:p>
        </p:txBody>
      </p:sp>
      <p:sp>
        <p:nvSpPr>
          <p:cNvPr id="5" name="Shape 3"/>
          <p:cNvSpPr/>
          <p:nvPr/>
        </p:nvSpPr>
        <p:spPr>
          <a:xfrm>
            <a:off x="0" y="850392"/>
            <a:ext cx="9144000" cy="36576"/>
          </a:xfrm>
          <a:prstGeom prst="rect">
            <a:avLst/>
          </a:prstGeom>
          <a:solidFill>
            <a:srgbClr val="818CF8">
              <a:alpha val="40000"/>
            </a:srgbClr>
          </a:solidFill>
          <a:ln/>
        </p:spPr>
      </p:sp>
      <p:sp>
        <p:nvSpPr>
          <p:cNvPr id="6" name="Shape 4"/>
          <p:cNvSpPr/>
          <p:nvPr/>
        </p:nvSpPr>
        <p:spPr>
          <a:xfrm>
            <a:off x="8732520" y="201168"/>
            <a:ext cx="256032" cy="256032"/>
          </a:xfrm>
          <a:prstGeom prst="ellipse">
            <a:avLst/>
          </a:prstGeom>
          <a:solidFill>
            <a:srgbClr val="818CF8">
              <a:alpha val="70000"/>
            </a:srgbClr>
          </a:solidFill>
          <a:ln/>
        </p:spPr>
      </p:sp>
      <p:sp>
        <p:nvSpPr>
          <p:cNvPr id="7" name="Shape 5"/>
          <p:cNvSpPr/>
          <p:nvPr/>
        </p:nvSpPr>
        <p:spPr>
          <a:xfrm>
            <a:off x="320040" y="100584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20040" y="1005840"/>
            <a:ext cx="54864" cy="1691640"/>
          </a:xfrm>
          <a:prstGeom prst="roundRect">
            <a:avLst>
              <a:gd name="adj" fmla="val 50000"/>
            </a:avLst>
          </a:prstGeom>
          <a:solidFill>
            <a:srgbClr val="1976D2"/>
          </a:solidFill>
          <a:ln/>
        </p:spPr>
      </p:sp>
      <p:sp>
        <p:nvSpPr>
          <p:cNvPr id="9" name="Shape 7"/>
          <p:cNvSpPr/>
          <p:nvPr/>
        </p:nvSpPr>
        <p:spPr>
          <a:xfrm>
            <a:off x="484632" y="1188720"/>
            <a:ext cx="640080" cy="640080"/>
          </a:xfrm>
          <a:prstGeom prst="ellipse">
            <a:avLst/>
          </a:prstGeom>
          <a:solidFill>
            <a:srgbClr val="1976D2">
              <a:alpha val="82000"/>
            </a:srgbClr>
          </a:solidFill>
          <a:ln/>
        </p:spPr>
      </p:sp>
      <p:sp>
        <p:nvSpPr>
          <p:cNvPr id="10" name="Text 8"/>
          <p:cNvSpPr/>
          <p:nvPr/>
        </p:nvSpPr>
        <p:spPr>
          <a:xfrm>
            <a:off x="484632" y="118872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280160" y="1207008"/>
            <a:ext cx="1664208" cy="411480"/>
          </a:xfrm>
          <a:prstGeom prst="rect">
            <a:avLst/>
          </a:prstGeom>
          <a:noFill/>
          <a:ln/>
        </p:spPr>
        <p:txBody>
          <a:bodyPr wrap="square" lIns="0" tIns="0" rIns="0" bIns="0" rtlCol="0" anchor="ctr"/>
          <a:lstStyle/>
          <a:p>
            <a:pPr indent="0" marL="0">
              <a:buNone/>
            </a:pPr>
            <a:r>
              <a:rPr lang="en-US" sz="1300" b="1" dirty="0">
                <a:solidFill>
                  <a:srgbClr val="1976D2"/>
                </a:solidFill>
                <a:latin typeface="Calibri" pitchFamily="34" charset="0"/>
                <a:ea typeface="Calibri" pitchFamily="34" charset="-122"/>
                <a:cs typeface="Calibri" pitchFamily="34" charset="-120"/>
              </a:rPr>
              <a:t>Python 3</a:t>
            </a:r>
            <a:endParaRPr lang="en-US" sz="1300" dirty="0"/>
          </a:p>
        </p:txBody>
      </p:sp>
      <p:sp>
        <p:nvSpPr>
          <p:cNvPr id="12" name="Text 10"/>
          <p:cNvSpPr/>
          <p:nvPr/>
        </p:nvSpPr>
        <p:spPr>
          <a:xfrm>
            <a:off x="484632" y="1965960"/>
            <a:ext cx="2423160" cy="6583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Core programming language — handles all system logic, GUI, and integrations.</a:t>
            </a:r>
            <a:endParaRPr lang="en-US" sz="900" dirty="0"/>
          </a:p>
        </p:txBody>
      </p:sp>
      <p:sp>
        <p:nvSpPr>
          <p:cNvPr id="13" name="Shape 11"/>
          <p:cNvSpPr/>
          <p:nvPr/>
        </p:nvSpPr>
        <p:spPr>
          <a:xfrm>
            <a:off x="3246120" y="100584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14" name="Shape 12"/>
          <p:cNvSpPr/>
          <p:nvPr/>
        </p:nvSpPr>
        <p:spPr>
          <a:xfrm>
            <a:off x="3246120" y="1005840"/>
            <a:ext cx="54864" cy="1691640"/>
          </a:xfrm>
          <a:prstGeom prst="roundRect">
            <a:avLst>
              <a:gd name="adj" fmla="val 50000"/>
            </a:avLst>
          </a:prstGeom>
          <a:solidFill>
            <a:srgbClr val="00B4D8"/>
          </a:solidFill>
          <a:ln/>
        </p:spPr>
      </p:sp>
      <p:sp>
        <p:nvSpPr>
          <p:cNvPr id="15" name="Shape 13"/>
          <p:cNvSpPr/>
          <p:nvPr/>
        </p:nvSpPr>
        <p:spPr>
          <a:xfrm>
            <a:off x="3410712" y="1188720"/>
            <a:ext cx="640080" cy="640080"/>
          </a:xfrm>
          <a:prstGeom prst="ellipse">
            <a:avLst/>
          </a:prstGeom>
          <a:solidFill>
            <a:srgbClr val="00B4D8">
              <a:alpha val="82000"/>
            </a:srgbClr>
          </a:solidFill>
          <a:ln/>
        </p:spPr>
      </p:sp>
      <p:sp>
        <p:nvSpPr>
          <p:cNvPr id="16" name="Text 14"/>
          <p:cNvSpPr/>
          <p:nvPr/>
        </p:nvSpPr>
        <p:spPr>
          <a:xfrm>
            <a:off x="3410712" y="118872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4206240" y="1207008"/>
            <a:ext cx="1664208" cy="411480"/>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OpenCV</a:t>
            </a:r>
            <a:endParaRPr lang="en-US" sz="1300" dirty="0"/>
          </a:p>
        </p:txBody>
      </p:sp>
      <p:sp>
        <p:nvSpPr>
          <p:cNvPr id="18" name="Text 16"/>
          <p:cNvSpPr/>
          <p:nvPr/>
        </p:nvSpPr>
        <p:spPr>
          <a:xfrm>
            <a:off x="3410712" y="1965960"/>
            <a:ext cx="2423160" cy="6583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Computer Vision library for webcam access, face detection, frame processing.</a:t>
            </a:r>
            <a:endParaRPr lang="en-US" sz="900" dirty="0"/>
          </a:p>
        </p:txBody>
      </p:sp>
      <p:sp>
        <p:nvSpPr>
          <p:cNvPr id="19" name="Shape 17"/>
          <p:cNvSpPr/>
          <p:nvPr/>
        </p:nvSpPr>
        <p:spPr>
          <a:xfrm>
            <a:off x="6172200" y="100584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20" name="Shape 18"/>
          <p:cNvSpPr/>
          <p:nvPr/>
        </p:nvSpPr>
        <p:spPr>
          <a:xfrm>
            <a:off x="6172200" y="1005840"/>
            <a:ext cx="54864" cy="1691640"/>
          </a:xfrm>
          <a:prstGeom prst="roundRect">
            <a:avLst>
              <a:gd name="adj" fmla="val 50000"/>
            </a:avLst>
          </a:prstGeom>
          <a:solidFill>
            <a:srgbClr val="818CF8"/>
          </a:solidFill>
          <a:ln/>
        </p:spPr>
      </p:sp>
      <p:sp>
        <p:nvSpPr>
          <p:cNvPr id="21" name="Shape 19"/>
          <p:cNvSpPr/>
          <p:nvPr/>
        </p:nvSpPr>
        <p:spPr>
          <a:xfrm>
            <a:off x="6336792" y="1188720"/>
            <a:ext cx="640080" cy="640080"/>
          </a:xfrm>
          <a:prstGeom prst="ellipse">
            <a:avLst/>
          </a:prstGeom>
          <a:solidFill>
            <a:srgbClr val="818CF8">
              <a:alpha val="82000"/>
            </a:srgbClr>
          </a:solidFill>
          <a:ln/>
        </p:spPr>
      </p:sp>
      <p:sp>
        <p:nvSpPr>
          <p:cNvPr id="22" name="Text 20"/>
          <p:cNvSpPr/>
          <p:nvPr/>
        </p:nvSpPr>
        <p:spPr>
          <a:xfrm>
            <a:off x="6336792" y="118872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7132320" y="1207008"/>
            <a:ext cx="1664208" cy="411480"/>
          </a:xfrm>
          <a:prstGeom prst="rect">
            <a:avLst/>
          </a:prstGeom>
          <a:noFill/>
          <a:ln/>
        </p:spPr>
        <p:txBody>
          <a:bodyPr wrap="square" lIns="0" tIns="0" rIns="0" bIns="0" rtlCol="0" anchor="ctr"/>
          <a:lstStyle/>
          <a:p>
            <a:pPr indent="0" marL="0">
              <a:buNone/>
            </a:pPr>
            <a:r>
              <a:rPr lang="en-US" sz="1300" b="1" dirty="0">
                <a:solidFill>
                  <a:srgbClr val="818CF8"/>
                </a:solidFill>
                <a:latin typeface="Calibri" pitchFamily="34" charset="0"/>
                <a:ea typeface="Calibri" pitchFamily="34" charset="-122"/>
                <a:cs typeface="Calibri" pitchFamily="34" charset="-120"/>
              </a:rPr>
              <a:t>DeepFace</a:t>
            </a:r>
            <a:endParaRPr lang="en-US" sz="1300" dirty="0"/>
          </a:p>
        </p:txBody>
      </p:sp>
      <p:sp>
        <p:nvSpPr>
          <p:cNvPr id="24" name="Text 22"/>
          <p:cNvSpPr/>
          <p:nvPr/>
        </p:nvSpPr>
        <p:spPr>
          <a:xfrm>
            <a:off x="6336792" y="1965960"/>
            <a:ext cx="2423160" cy="6583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Facenet512 model for 128D face embedding extraction and cosine similarity matching.</a:t>
            </a:r>
            <a:endParaRPr lang="en-US" sz="900" dirty="0"/>
          </a:p>
        </p:txBody>
      </p:sp>
      <p:sp>
        <p:nvSpPr>
          <p:cNvPr id="25" name="Shape 23"/>
          <p:cNvSpPr/>
          <p:nvPr/>
        </p:nvSpPr>
        <p:spPr>
          <a:xfrm>
            <a:off x="320040" y="288036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26" name="Shape 24"/>
          <p:cNvSpPr/>
          <p:nvPr/>
        </p:nvSpPr>
        <p:spPr>
          <a:xfrm>
            <a:off x="320040" y="2880360"/>
            <a:ext cx="54864" cy="1691640"/>
          </a:xfrm>
          <a:prstGeom prst="roundRect">
            <a:avLst>
              <a:gd name="adj" fmla="val 50000"/>
            </a:avLst>
          </a:prstGeom>
          <a:solidFill>
            <a:srgbClr val="F59E0B"/>
          </a:solidFill>
          <a:ln/>
        </p:spPr>
      </p:sp>
      <p:sp>
        <p:nvSpPr>
          <p:cNvPr id="27" name="Shape 25"/>
          <p:cNvSpPr/>
          <p:nvPr/>
        </p:nvSpPr>
        <p:spPr>
          <a:xfrm>
            <a:off x="484632" y="3063240"/>
            <a:ext cx="640080" cy="640080"/>
          </a:xfrm>
          <a:prstGeom prst="ellipse">
            <a:avLst/>
          </a:prstGeom>
          <a:solidFill>
            <a:srgbClr val="F59E0B">
              <a:alpha val="82000"/>
            </a:srgbClr>
          </a:solidFill>
          <a:ln/>
        </p:spPr>
      </p:sp>
      <p:sp>
        <p:nvSpPr>
          <p:cNvPr id="28" name="Text 26"/>
          <p:cNvSpPr/>
          <p:nvPr/>
        </p:nvSpPr>
        <p:spPr>
          <a:xfrm>
            <a:off x="484632" y="306324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9" name="Text 27"/>
          <p:cNvSpPr/>
          <p:nvPr/>
        </p:nvSpPr>
        <p:spPr>
          <a:xfrm>
            <a:off x="1280160" y="3081528"/>
            <a:ext cx="1664208" cy="41148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Tkinter</a:t>
            </a:r>
            <a:endParaRPr lang="en-US" sz="1300" dirty="0"/>
          </a:p>
        </p:txBody>
      </p:sp>
      <p:sp>
        <p:nvSpPr>
          <p:cNvPr id="30" name="Text 28"/>
          <p:cNvSpPr/>
          <p:nvPr/>
        </p:nvSpPr>
        <p:spPr>
          <a:xfrm>
            <a:off x="484632" y="3840480"/>
            <a:ext cx="2423160" cy="6583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Python GUI toolkit used to build the modern dark/light mode dashboard.</a:t>
            </a:r>
            <a:endParaRPr lang="en-US" sz="900" dirty="0"/>
          </a:p>
        </p:txBody>
      </p:sp>
      <p:sp>
        <p:nvSpPr>
          <p:cNvPr id="31" name="Shape 29"/>
          <p:cNvSpPr/>
          <p:nvPr/>
        </p:nvSpPr>
        <p:spPr>
          <a:xfrm>
            <a:off x="3246120" y="288036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32" name="Shape 30"/>
          <p:cNvSpPr/>
          <p:nvPr/>
        </p:nvSpPr>
        <p:spPr>
          <a:xfrm>
            <a:off x="3246120" y="2880360"/>
            <a:ext cx="54864" cy="1691640"/>
          </a:xfrm>
          <a:prstGeom prst="roundRect">
            <a:avLst>
              <a:gd name="adj" fmla="val 50000"/>
            </a:avLst>
          </a:prstGeom>
          <a:solidFill>
            <a:srgbClr val="10B981"/>
          </a:solidFill>
          <a:ln/>
        </p:spPr>
      </p:sp>
      <p:sp>
        <p:nvSpPr>
          <p:cNvPr id="33" name="Shape 31"/>
          <p:cNvSpPr/>
          <p:nvPr/>
        </p:nvSpPr>
        <p:spPr>
          <a:xfrm>
            <a:off x="3410712" y="3063240"/>
            <a:ext cx="640080" cy="640080"/>
          </a:xfrm>
          <a:prstGeom prst="ellipse">
            <a:avLst/>
          </a:prstGeom>
          <a:solidFill>
            <a:srgbClr val="10B981">
              <a:alpha val="82000"/>
            </a:srgbClr>
          </a:solidFill>
          <a:ln/>
        </p:spPr>
      </p:sp>
      <p:sp>
        <p:nvSpPr>
          <p:cNvPr id="34" name="Text 32"/>
          <p:cNvSpPr/>
          <p:nvPr/>
        </p:nvSpPr>
        <p:spPr>
          <a:xfrm>
            <a:off x="3410712" y="306324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5" name="Text 33"/>
          <p:cNvSpPr/>
          <p:nvPr/>
        </p:nvSpPr>
        <p:spPr>
          <a:xfrm>
            <a:off x="4206240" y="3081528"/>
            <a:ext cx="1664208" cy="41148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SQLite</a:t>
            </a:r>
            <a:endParaRPr lang="en-US" sz="1300" dirty="0"/>
          </a:p>
        </p:txBody>
      </p:sp>
      <p:sp>
        <p:nvSpPr>
          <p:cNvPr id="36" name="Text 34"/>
          <p:cNvSpPr/>
          <p:nvPr/>
        </p:nvSpPr>
        <p:spPr>
          <a:xfrm>
            <a:off x="3410712" y="3840480"/>
            <a:ext cx="2423160" cy="6583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Lightweight embedded database storing student registration and attendance records.</a:t>
            </a:r>
            <a:endParaRPr lang="en-US" sz="900" dirty="0"/>
          </a:p>
        </p:txBody>
      </p:sp>
      <p:sp>
        <p:nvSpPr>
          <p:cNvPr id="37" name="Shape 35"/>
          <p:cNvSpPr/>
          <p:nvPr/>
        </p:nvSpPr>
        <p:spPr>
          <a:xfrm>
            <a:off x="6172200" y="288036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38" name="Shape 36"/>
          <p:cNvSpPr/>
          <p:nvPr/>
        </p:nvSpPr>
        <p:spPr>
          <a:xfrm>
            <a:off x="6172200" y="2880360"/>
            <a:ext cx="54864" cy="1691640"/>
          </a:xfrm>
          <a:prstGeom prst="roundRect">
            <a:avLst>
              <a:gd name="adj" fmla="val 50000"/>
            </a:avLst>
          </a:prstGeom>
          <a:solidFill>
            <a:srgbClr val="38BDF8"/>
          </a:solidFill>
          <a:ln/>
        </p:spPr>
      </p:sp>
      <p:sp>
        <p:nvSpPr>
          <p:cNvPr id="39" name="Shape 37"/>
          <p:cNvSpPr/>
          <p:nvPr/>
        </p:nvSpPr>
        <p:spPr>
          <a:xfrm>
            <a:off x="6336792" y="3063240"/>
            <a:ext cx="640080" cy="640080"/>
          </a:xfrm>
          <a:prstGeom prst="ellipse">
            <a:avLst/>
          </a:prstGeom>
          <a:solidFill>
            <a:srgbClr val="38BDF8">
              <a:alpha val="82000"/>
            </a:srgbClr>
          </a:solidFill>
          <a:ln/>
        </p:spPr>
      </p:sp>
      <p:sp>
        <p:nvSpPr>
          <p:cNvPr id="40" name="Text 38"/>
          <p:cNvSpPr/>
          <p:nvPr/>
        </p:nvSpPr>
        <p:spPr>
          <a:xfrm>
            <a:off x="6336792" y="306324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41" name="Text 39"/>
          <p:cNvSpPr/>
          <p:nvPr/>
        </p:nvSpPr>
        <p:spPr>
          <a:xfrm>
            <a:off x="7132320" y="3081528"/>
            <a:ext cx="1664208" cy="41148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Pandas / NumPy</a:t>
            </a:r>
            <a:endParaRPr lang="en-US" sz="1300" dirty="0"/>
          </a:p>
        </p:txBody>
      </p:sp>
      <p:sp>
        <p:nvSpPr>
          <p:cNvPr id="42" name="Text 40"/>
          <p:cNvSpPr/>
          <p:nvPr/>
        </p:nvSpPr>
        <p:spPr>
          <a:xfrm>
            <a:off x="6336792" y="3840480"/>
            <a:ext cx="2423160" cy="6583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Data manipulation, numerical operations, and CSV export of attendance records.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00B4D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06  SYSTEM ARCHITECTURE</a:t>
            </a:r>
            <a:endParaRPr lang="en-US" sz="2600" dirty="0"/>
          </a:p>
        </p:txBody>
      </p:sp>
      <p:sp>
        <p:nvSpPr>
          <p:cNvPr id="5" name="Shape 3"/>
          <p:cNvSpPr/>
          <p:nvPr/>
        </p:nvSpPr>
        <p:spPr>
          <a:xfrm>
            <a:off x="0" y="850392"/>
            <a:ext cx="9144000" cy="36576"/>
          </a:xfrm>
          <a:prstGeom prst="rect">
            <a:avLst/>
          </a:prstGeom>
          <a:solidFill>
            <a:srgbClr val="00B4D8">
              <a:alpha val="40000"/>
            </a:srgbClr>
          </a:solidFill>
          <a:ln/>
        </p:spPr>
      </p:sp>
      <p:sp>
        <p:nvSpPr>
          <p:cNvPr id="6" name="Shape 4"/>
          <p:cNvSpPr/>
          <p:nvPr/>
        </p:nvSpPr>
        <p:spPr>
          <a:xfrm>
            <a:off x="8732520" y="201168"/>
            <a:ext cx="256032" cy="256032"/>
          </a:xfrm>
          <a:prstGeom prst="ellipse">
            <a:avLst/>
          </a:prstGeom>
          <a:solidFill>
            <a:srgbClr val="00B4D8">
              <a:alpha val="70000"/>
            </a:srgbClr>
          </a:solidFill>
          <a:ln/>
        </p:spPr>
      </p:sp>
      <p:sp>
        <p:nvSpPr>
          <p:cNvPr id="7" name="Shape 5"/>
          <p:cNvSpPr/>
          <p:nvPr/>
        </p:nvSpPr>
        <p:spPr>
          <a:xfrm>
            <a:off x="457200" y="1005840"/>
            <a:ext cx="1508760" cy="3657600"/>
          </a:xfrm>
          <a:prstGeom prst="roundRect">
            <a:avLst>
              <a:gd name="adj" fmla="val 7273"/>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457200" y="1005840"/>
            <a:ext cx="54864" cy="3657600"/>
          </a:xfrm>
          <a:prstGeom prst="roundRect">
            <a:avLst>
              <a:gd name="adj" fmla="val 50000"/>
            </a:avLst>
          </a:prstGeom>
          <a:solidFill>
            <a:srgbClr val="00B4D8"/>
          </a:solidFill>
          <a:ln/>
        </p:spPr>
      </p:sp>
      <p:sp>
        <p:nvSpPr>
          <p:cNvPr id="9" name="Shape 7"/>
          <p:cNvSpPr/>
          <p:nvPr/>
        </p:nvSpPr>
        <p:spPr>
          <a:xfrm>
            <a:off x="987552" y="1097280"/>
            <a:ext cx="438912" cy="438912"/>
          </a:xfrm>
          <a:prstGeom prst="ellipse">
            <a:avLst/>
          </a:prstGeom>
          <a:solidFill>
            <a:srgbClr val="00B4D8"/>
          </a:solidFill>
          <a:ln/>
        </p:spPr>
      </p:sp>
      <p:sp>
        <p:nvSpPr>
          <p:cNvPr id="10" name="Text 8"/>
          <p:cNvSpPr/>
          <p:nvPr/>
        </p:nvSpPr>
        <p:spPr>
          <a:xfrm>
            <a:off x="987552" y="1097280"/>
            <a:ext cx="438912" cy="438912"/>
          </a:xfrm>
          <a:prstGeom prst="rect">
            <a:avLst/>
          </a:prstGeom>
          <a:noFill/>
          <a:ln/>
        </p:spPr>
        <p:txBody>
          <a:bodyPr wrap="square" lIns="0" tIns="0" rIns="0" bIns="0" rtlCol="0" anchor="ctr"/>
          <a:lstStyle/>
          <a:p>
            <a:pPr algn="ctr" indent="0" marL="0">
              <a:buNone/>
            </a:pPr>
            <a:r>
              <a:rPr lang="en-US" sz="1100" b="1" dirty="0">
                <a:solidFill>
                  <a:srgbClr val="0A0E27"/>
                </a:solidFill>
              </a:rPr>
              <a:t>1</a:t>
            </a:r>
            <a:endParaRPr lang="en-US" sz="1100" dirty="0"/>
          </a:p>
        </p:txBody>
      </p:sp>
      <p:sp>
        <p:nvSpPr>
          <p:cNvPr id="11" name="Shape 9"/>
          <p:cNvSpPr/>
          <p:nvPr/>
        </p:nvSpPr>
        <p:spPr>
          <a:xfrm>
            <a:off x="777240" y="1691640"/>
            <a:ext cx="868680" cy="868680"/>
          </a:xfrm>
          <a:prstGeom prst="roundRect">
            <a:avLst>
              <a:gd name="adj" fmla="val 10526"/>
            </a:avLst>
          </a:prstGeom>
          <a:solidFill>
            <a:srgbClr val="00B4D8">
              <a:alpha val="80000"/>
            </a:srgbClr>
          </a:solidFill>
          <a:ln/>
        </p:spPr>
      </p:sp>
      <p:sp>
        <p:nvSpPr>
          <p:cNvPr id="12" name="Text 10"/>
          <p:cNvSpPr/>
          <p:nvPr/>
        </p:nvSpPr>
        <p:spPr>
          <a:xfrm>
            <a:off x="777240" y="1691640"/>
            <a:ext cx="868680" cy="8686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3" name="Text 11"/>
          <p:cNvSpPr/>
          <p:nvPr/>
        </p:nvSpPr>
        <p:spPr>
          <a:xfrm>
            <a:off x="502920" y="2697480"/>
            <a:ext cx="1417320" cy="438912"/>
          </a:xfrm>
          <a:prstGeom prst="rect">
            <a:avLst/>
          </a:prstGeom>
          <a:noFill/>
          <a:ln/>
        </p:spPr>
        <p:txBody>
          <a:bodyPr wrap="square" lIns="0" tIns="0" rIns="0" bIns="0" rtlCol="0" anchor="ctr"/>
          <a:lstStyle/>
          <a:p>
            <a:pPr algn="ctr" indent="0" marL="0">
              <a:buNone/>
            </a:pPr>
            <a:r>
              <a:rPr lang="en-US" sz="1050" b="1" dirty="0">
                <a:solidFill>
                  <a:srgbClr val="00B4D8"/>
                </a:solidFill>
                <a:latin typeface="Calibri" pitchFamily="34" charset="0"/>
                <a:ea typeface="Calibri" pitchFamily="34" charset="-122"/>
                <a:cs typeface="Calibri" pitchFamily="34" charset="-120"/>
              </a:rPr>
              <a:t>Camera Input</a:t>
            </a:r>
            <a:endParaRPr lang="en-US" sz="1050" dirty="0"/>
          </a:p>
        </p:txBody>
      </p:sp>
      <p:sp>
        <p:nvSpPr>
          <p:cNvPr id="14" name="Text 12"/>
          <p:cNvSpPr/>
          <p:nvPr/>
        </p:nvSpPr>
        <p:spPr>
          <a:xfrm>
            <a:off x="530352" y="3200400"/>
            <a:ext cx="1371600" cy="128016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Webcam captures</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live video stream</a:t>
            </a:r>
            <a:endParaRPr lang="en-US" sz="900" dirty="0"/>
          </a:p>
        </p:txBody>
      </p:sp>
      <p:sp>
        <p:nvSpPr>
          <p:cNvPr id="15" name="Shape 13"/>
          <p:cNvSpPr/>
          <p:nvPr/>
        </p:nvSpPr>
        <p:spPr>
          <a:xfrm>
            <a:off x="1965960" y="2834640"/>
            <a:ext cx="164592" cy="0"/>
          </a:xfrm>
          <a:prstGeom prst="line">
            <a:avLst/>
          </a:prstGeom>
          <a:noFill/>
          <a:ln w="25400">
            <a:solidFill>
              <a:srgbClr val="00B4D8"/>
            </a:solidFill>
            <a:prstDash val="solid"/>
          </a:ln>
        </p:spPr>
      </p:sp>
      <p:sp>
        <p:nvSpPr>
          <p:cNvPr id="16" name="Shape 14"/>
          <p:cNvSpPr/>
          <p:nvPr/>
        </p:nvSpPr>
        <p:spPr>
          <a:xfrm>
            <a:off x="2084832" y="2724912"/>
            <a:ext cx="164592" cy="164592"/>
          </a:xfrm>
          <a:prstGeom prst="line">
            <a:avLst/>
          </a:prstGeom>
          <a:noFill/>
          <a:ln w="25400">
            <a:solidFill>
              <a:srgbClr val="00B4D8"/>
            </a:solidFill>
            <a:prstDash val="solid"/>
          </a:ln>
        </p:spPr>
      </p:sp>
      <p:sp>
        <p:nvSpPr>
          <p:cNvPr id="17" name="Shape 15"/>
          <p:cNvSpPr/>
          <p:nvPr/>
        </p:nvSpPr>
        <p:spPr>
          <a:xfrm>
            <a:off x="2084832" y="2944368"/>
            <a:ext cx="164592" cy="-164592"/>
          </a:xfrm>
          <a:prstGeom prst="line">
            <a:avLst/>
          </a:prstGeom>
          <a:noFill/>
          <a:ln w="25400">
            <a:solidFill>
              <a:srgbClr val="00B4D8"/>
            </a:solidFill>
            <a:prstDash val="solid"/>
          </a:ln>
        </p:spPr>
      </p:sp>
      <p:sp>
        <p:nvSpPr>
          <p:cNvPr id="18" name="Shape 16"/>
          <p:cNvSpPr/>
          <p:nvPr/>
        </p:nvSpPr>
        <p:spPr>
          <a:xfrm>
            <a:off x="2130552" y="1005840"/>
            <a:ext cx="1508760" cy="3657600"/>
          </a:xfrm>
          <a:prstGeom prst="roundRect">
            <a:avLst>
              <a:gd name="adj" fmla="val 7273"/>
            </a:avLst>
          </a:prstGeom>
          <a:solidFill>
            <a:srgbClr val="1E293B"/>
          </a:solidFill>
          <a:ln/>
          <a:effectLst>
            <a:outerShdw sx="100000" sy="100000" kx="0" ky="0" algn="bl" rotWithShape="0" blurRad="127000" dist="50800" dir="2700000">
              <a:srgbClr val="000000">
                <a:alpha val="35000"/>
              </a:srgbClr>
            </a:outerShdw>
          </a:effectLst>
        </p:spPr>
      </p:sp>
      <p:sp>
        <p:nvSpPr>
          <p:cNvPr id="19" name="Shape 17"/>
          <p:cNvSpPr/>
          <p:nvPr/>
        </p:nvSpPr>
        <p:spPr>
          <a:xfrm>
            <a:off x="2130552" y="1005840"/>
            <a:ext cx="54864" cy="3657600"/>
          </a:xfrm>
          <a:prstGeom prst="roundRect">
            <a:avLst>
              <a:gd name="adj" fmla="val 50000"/>
            </a:avLst>
          </a:prstGeom>
          <a:solidFill>
            <a:srgbClr val="1976D2"/>
          </a:solidFill>
          <a:ln/>
        </p:spPr>
      </p:sp>
      <p:sp>
        <p:nvSpPr>
          <p:cNvPr id="20" name="Shape 18"/>
          <p:cNvSpPr/>
          <p:nvPr/>
        </p:nvSpPr>
        <p:spPr>
          <a:xfrm>
            <a:off x="2660904" y="1097280"/>
            <a:ext cx="438912" cy="438912"/>
          </a:xfrm>
          <a:prstGeom prst="ellipse">
            <a:avLst/>
          </a:prstGeom>
          <a:solidFill>
            <a:srgbClr val="1976D2"/>
          </a:solidFill>
          <a:ln/>
        </p:spPr>
      </p:sp>
      <p:sp>
        <p:nvSpPr>
          <p:cNvPr id="21" name="Text 19"/>
          <p:cNvSpPr/>
          <p:nvPr/>
        </p:nvSpPr>
        <p:spPr>
          <a:xfrm>
            <a:off x="2660904" y="1097280"/>
            <a:ext cx="438912" cy="438912"/>
          </a:xfrm>
          <a:prstGeom prst="rect">
            <a:avLst/>
          </a:prstGeom>
          <a:noFill/>
          <a:ln/>
        </p:spPr>
        <p:txBody>
          <a:bodyPr wrap="square" lIns="0" tIns="0" rIns="0" bIns="0" rtlCol="0" anchor="ctr"/>
          <a:lstStyle/>
          <a:p>
            <a:pPr algn="ctr" indent="0" marL="0">
              <a:buNone/>
            </a:pPr>
            <a:r>
              <a:rPr lang="en-US" sz="1100" b="1" dirty="0">
                <a:solidFill>
                  <a:srgbClr val="0A0E27"/>
                </a:solidFill>
              </a:rPr>
              <a:t>2</a:t>
            </a:r>
            <a:endParaRPr lang="en-US" sz="1100" dirty="0"/>
          </a:p>
        </p:txBody>
      </p:sp>
      <p:sp>
        <p:nvSpPr>
          <p:cNvPr id="22" name="Shape 20"/>
          <p:cNvSpPr/>
          <p:nvPr/>
        </p:nvSpPr>
        <p:spPr>
          <a:xfrm>
            <a:off x="2450592" y="1691640"/>
            <a:ext cx="868680" cy="868680"/>
          </a:xfrm>
          <a:prstGeom prst="roundRect">
            <a:avLst>
              <a:gd name="adj" fmla="val 10526"/>
            </a:avLst>
          </a:prstGeom>
          <a:solidFill>
            <a:srgbClr val="1976D2">
              <a:alpha val="80000"/>
            </a:srgbClr>
          </a:solidFill>
          <a:ln/>
        </p:spPr>
      </p:sp>
      <p:sp>
        <p:nvSpPr>
          <p:cNvPr id="23" name="Text 21"/>
          <p:cNvSpPr/>
          <p:nvPr/>
        </p:nvSpPr>
        <p:spPr>
          <a:xfrm>
            <a:off x="2450592" y="1691640"/>
            <a:ext cx="868680" cy="8686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4" name="Text 22"/>
          <p:cNvSpPr/>
          <p:nvPr/>
        </p:nvSpPr>
        <p:spPr>
          <a:xfrm>
            <a:off x="2176272" y="2697480"/>
            <a:ext cx="1417320" cy="438912"/>
          </a:xfrm>
          <a:prstGeom prst="rect">
            <a:avLst/>
          </a:prstGeom>
          <a:noFill/>
          <a:ln/>
        </p:spPr>
        <p:txBody>
          <a:bodyPr wrap="square" lIns="0" tIns="0" rIns="0" bIns="0" rtlCol="0" anchor="ctr"/>
          <a:lstStyle/>
          <a:p>
            <a:pPr algn="ctr" indent="0" marL="0">
              <a:buNone/>
            </a:pPr>
            <a:r>
              <a:rPr lang="en-US" sz="1050" b="1" dirty="0">
                <a:solidFill>
                  <a:srgbClr val="1976D2"/>
                </a:solidFill>
                <a:latin typeface="Calibri" pitchFamily="34" charset="0"/>
                <a:ea typeface="Calibri" pitchFamily="34" charset="-122"/>
                <a:cs typeface="Calibri" pitchFamily="34" charset="-120"/>
              </a:rPr>
              <a:t>Face Detection</a:t>
            </a:r>
            <a:endParaRPr lang="en-US" sz="1050" dirty="0"/>
          </a:p>
        </p:txBody>
      </p:sp>
      <p:sp>
        <p:nvSpPr>
          <p:cNvPr id="25" name="Text 23"/>
          <p:cNvSpPr/>
          <p:nvPr/>
        </p:nvSpPr>
        <p:spPr>
          <a:xfrm>
            <a:off x="2203704" y="3200400"/>
            <a:ext cx="1371600" cy="128016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OpenCV Haar Cascade</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detects face region</a:t>
            </a:r>
            <a:endParaRPr lang="en-US" sz="900" dirty="0"/>
          </a:p>
        </p:txBody>
      </p:sp>
      <p:sp>
        <p:nvSpPr>
          <p:cNvPr id="26" name="Shape 24"/>
          <p:cNvSpPr/>
          <p:nvPr/>
        </p:nvSpPr>
        <p:spPr>
          <a:xfrm>
            <a:off x="3639312" y="2834640"/>
            <a:ext cx="164592" cy="0"/>
          </a:xfrm>
          <a:prstGeom prst="line">
            <a:avLst/>
          </a:prstGeom>
          <a:noFill/>
          <a:ln w="25400">
            <a:solidFill>
              <a:srgbClr val="00B4D8"/>
            </a:solidFill>
            <a:prstDash val="solid"/>
          </a:ln>
        </p:spPr>
      </p:sp>
      <p:sp>
        <p:nvSpPr>
          <p:cNvPr id="27" name="Shape 25"/>
          <p:cNvSpPr/>
          <p:nvPr/>
        </p:nvSpPr>
        <p:spPr>
          <a:xfrm>
            <a:off x="3758184" y="2724912"/>
            <a:ext cx="164592" cy="164592"/>
          </a:xfrm>
          <a:prstGeom prst="line">
            <a:avLst/>
          </a:prstGeom>
          <a:noFill/>
          <a:ln w="25400">
            <a:solidFill>
              <a:srgbClr val="00B4D8"/>
            </a:solidFill>
            <a:prstDash val="solid"/>
          </a:ln>
        </p:spPr>
      </p:sp>
      <p:sp>
        <p:nvSpPr>
          <p:cNvPr id="28" name="Shape 26"/>
          <p:cNvSpPr/>
          <p:nvPr/>
        </p:nvSpPr>
        <p:spPr>
          <a:xfrm>
            <a:off x="3758184" y="2944368"/>
            <a:ext cx="164592" cy="-164592"/>
          </a:xfrm>
          <a:prstGeom prst="line">
            <a:avLst/>
          </a:prstGeom>
          <a:noFill/>
          <a:ln w="25400">
            <a:solidFill>
              <a:srgbClr val="00B4D8"/>
            </a:solidFill>
            <a:prstDash val="solid"/>
          </a:ln>
        </p:spPr>
      </p:sp>
      <p:sp>
        <p:nvSpPr>
          <p:cNvPr id="29" name="Shape 27"/>
          <p:cNvSpPr/>
          <p:nvPr/>
        </p:nvSpPr>
        <p:spPr>
          <a:xfrm>
            <a:off x="3803904" y="1005840"/>
            <a:ext cx="1508760" cy="3657600"/>
          </a:xfrm>
          <a:prstGeom prst="roundRect">
            <a:avLst>
              <a:gd name="adj" fmla="val 7273"/>
            </a:avLst>
          </a:prstGeom>
          <a:solidFill>
            <a:srgbClr val="1E293B"/>
          </a:solidFill>
          <a:ln/>
          <a:effectLst>
            <a:outerShdw sx="100000" sy="100000" kx="0" ky="0" algn="bl" rotWithShape="0" blurRad="127000" dist="50800" dir="2700000">
              <a:srgbClr val="000000">
                <a:alpha val="35000"/>
              </a:srgbClr>
            </a:outerShdw>
          </a:effectLst>
        </p:spPr>
      </p:sp>
      <p:sp>
        <p:nvSpPr>
          <p:cNvPr id="30" name="Shape 28"/>
          <p:cNvSpPr/>
          <p:nvPr/>
        </p:nvSpPr>
        <p:spPr>
          <a:xfrm>
            <a:off x="3803904" y="1005840"/>
            <a:ext cx="54864" cy="3657600"/>
          </a:xfrm>
          <a:prstGeom prst="roundRect">
            <a:avLst>
              <a:gd name="adj" fmla="val 50000"/>
            </a:avLst>
          </a:prstGeom>
          <a:solidFill>
            <a:srgbClr val="818CF8"/>
          </a:solidFill>
          <a:ln/>
        </p:spPr>
      </p:sp>
      <p:sp>
        <p:nvSpPr>
          <p:cNvPr id="31" name="Shape 29"/>
          <p:cNvSpPr/>
          <p:nvPr/>
        </p:nvSpPr>
        <p:spPr>
          <a:xfrm>
            <a:off x="4334256" y="1097280"/>
            <a:ext cx="438912" cy="438912"/>
          </a:xfrm>
          <a:prstGeom prst="ellipse">
            <a:avLst/>
          </a:prstGeom>
          <a:solidFill>
            <a:srgbClr val="818CF8"/>
          </a:solidFill>
          <a:ln/>
        </p:spPr>
      </p:sp>
      <p:sp>
        <p:nvSpPr>
          <p:cNvPr id="32" name="Text 30"/>
          <p:cNvSpPr/>
          <p:nvPr/>
        </p:nvSpPr>
        <p:spPr>
          <a:xfrm>
            <a:off x="4334256" y="1097280"/>
            <a:ext cx="438912" cy="438912"/>
          </a:xfrm>
          <a:prstGeom prst="rect">
            <a:avLst/>
          </a:prstGeom>
          <a:noFill/>
          <a:ln/>
        </p:spPr>
        <p:txBody>
          <a:bodyPr wrap="square" lIns="0" tIns="0" rIns="0" bIns="0" rtlCol="0" anchor="ctr"/>
          <a:lstStyle/>
          <a:p>
            <a:pPr algn="ctr" indent="0" marL="0">
              <a:buNone/>
            </a:pPr>
            <a:r>
              <a:rPr lang="en-US" sz="1100" b="1" dirty="0">
                <a:solidFill>
                  <a:srgbClr val="0A0E27"/>
                </a:solidFill>
              </a:rPr>
              <a:t>3</a:t>
            </a:r>
            <a:endParaRPr lang="en-US" sz="1100" dirty="0"/>
          </a:p>
        </p:txBody>
      </p:sp>
      <p:sp>
        <p:nvSpPr>
          <p:cNvPr id="33" name="Shape 31"/>
          <p:cNvSpPr/>
          <p:nvPr/>
        </p:nvSpPr>
        <p:spPr>
          <a:xfrm>
            <a:off x="4123944" y="1691640"/>
            <a:ext cx="868680" cy="868680"/>
          </a:xfrm>
          <a:prstGeom prst="roundRect">
            <a:avLst>
              <a:gd name="adj" fmla="val 10526"/>
            </a:avLst>
          </a:prstGeom>
          <a:solidFill>
            <a:srgbClr val="818CF8">
              <a:alpha val="80000"/>
            </a:srgbClr>
          </a:solidFill>
          <a:ln/>
        </p:spPr>
      </p:sp>
      <p:sp>
        <p:nvSpPr>
          <p:cNvPr id="34" name="Text 32"/>
          <p:cNvSpPr/>
          <p:nvPr/>
        </p:nvSpPr>
        <p:spPr>
          <a:xfrm>
            <a:off x="4123944" y="1691640"/>
            <a:ext cx="868680" cy="8686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35" name="Text 33"/>
          <p:cNvSpPr/>
          <p:nvPr/>
        </p:nvSpPr>
        <p:spPr>
          <a:xfrm>
            <a:off x="3849624" y="2697480"/>
            <a:ext cx="1417320" cy="438912"/>
          </a:xfrm>
          <a:prstGeom prst="rect">
            <a:avLst/>
          </a:prstGeom>
          <a:noFill/>
          <a:ln/>
        </p:spPr>
        <p:txBody>
          <a:bodyPr wrap="square" lIns="0" tIns="0" rIns="0" bIns="0" rtlCol="0" anchor="ctr"/>
          <a:lstStyle/>
          <a:p>
            <a:pPr algn="ctr" indent="0" marL="0">
              <a:buNone/>
            </a:pPr>
            <a:r>
              <a:rPr lang="en-US" sz="1050" b="1" dirty="0">
                <a:solidFill>
                  <a:srgbClr val="818CF8"/>
                </a:solidFill>
                <a:latin typeface="Calibri" pitchFamily="34" charset="0"/>
                <a:ea typeface="Calibri" pitchFamily="34" charset="-122"/>
                <a:cs typeface="Calibri" pitchFamily="34" charset="-120"/>
              </a:rPr>
              <a:t>Feature Extraction</a:t>
            </a:r>
            <a:endParaRPr lang="en-US" sz="1050" dirty="0"/>
          </a:p>
        </p:txBody>
      </p:sp>
      <p:sp>
        <p:nvSpPr>
          <p:cNvPr id="36" name="Text 34"/>
          <p:cNvSpPr/>
          <p:nvPr/>
        </p:nvSpPr>
        <p:spPr>
          <a:xfrm>
            <a:off x="3877056" y="3200400"/>
            <a:ext cx="1371600" cy="128016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DeepFace extracts</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128D face encoding</a:t>
            </a:r>
            <a:endParaRPr lang="en-US" sz="900" dirty="0"/>
          </a:p>
        </p:txBody>
      </p:sp>
      <p:sp>
        <p:nvSpPr>
          <p:cNvPr id="37" name="Shape 35"/>
          <p:cNvSpPr/>
          <p:nvPr/>
        </p:nvSpPr>
        <p:spPr>
          <a:xfrm>
            <a:off x="5312664" y="2834640"/>
            <a:ext cx="164592" cy="0"/>
          </a:xfrm>
          <a:prstGeom prst="line">
            <a:avLst/>
          </a:prstGeom>
          <a:noFill/>
          <a:ln w="25400">
            <a:solidFill>
              <a:srgbClr val="00B4D8"/>
            </a:solidFill>
            <a:prstDash val="solid"/>
          </a:ln>
        </p:spPr>
      </p:sp>
      <p:sp>
        <p:nvSpPr>
          <p:cNvPr id="38" name="Shape 36"/>
          <p:cNvSpPr/>
          <p:nvPr/>
        </p:nvSpPr>
        <p:spPr>
          <a:xfrm>
            <a:off x="5431536" y="2724912"/>
            <a:ext cx="164592" cy="164592"/>
          </a:xfrm>
          <a:prstGeom prst="line">
            <a:avLst/>
          </a:prstGeom>
          <a:noFill/>
          <a:ln w="25400">
            <a:solidFill>
              <a:srgbClr val="00B4D8"/>
            </a:solidFill>
            <a:prstDash val="solid"/>
          </a:ln>
        </p:spPr>
      </p:sp>
      <p:sp>
        <p:nvSpPr>
          <p:cNvPr id="39" name="Shape 37"/>
          <p:cNvSpPr/>
          <p:nvPr/>
        </p:nvSpPr>
        <p:spPr>
          <a:xfrm>
            <a:off x="5431536" y="2944368"/>
            <a:ext cx="164592" cy="-164592"/>
          </a:xfrm>
          <a:prstGeom prst="line">
            <a:avLst/>
          </a:prstGeom>
          <a:noFill/>
          <a:ln w="25400">
            <a:solidFill>
              <a:srgbClr val="00B4D8"/>
            </a:solidFill>
            <a:prstDash val="solid"/>
          </a:ln>
        </p:spPr>
      </p:sp>
      <p:sp>
        <p:nvSpPr>
          <p:cNvPr id="40" name="Shape 38"/>
          <p:cNvSpPr/>
          <p:nvPr/>
        </p:nvSpPr>
        <p:spPr>
          <a:xfrm>
            <a:off x="5477256" y="1005840"/>
            <a:ext cx="1508760" cy="3657600"/>
          </a:xfrm>
          <a:prstGeom prst="roundRect">
            <a:avLst>
              <a:gd name="adj" fmla="val 7273"/>
            </a:avLst>
          </a:prstGeom>
          <a:solidFill>
            <a:srgbClr val="1E293B"/>
          </a:solidFill>
          <a:ln/>
          <a:effectLst>
            <a:outerShdw sx="100000" sy="100000" kx="0" ky="0" algn="bl" rotWithShape="0" blurRad="127000" dist="50800" dir="2700000">
              <a:srgbClr val="000000">
                <a:alpha val="35000"/>
              </a:srgbClr>
            </a:outerShdw>
          </a:effectLst>
        </p:spPr>
      </p:sp>
      <p:sp>
        <p:nvSpPr>
          <p:cNvPr id="41" name="Shape 39"/>
          <p:cNvSpPr/>
          <p:nvPr/>
        </p:nvSpPr>
        <p:spPr>
          <a:xfrm>
            <a:off x="5477256" y="1005840"/>
            <a:ext cx="54864" cy="3657600"/>
          </a:xfrm>
          <a:prstGeom prst="roundRect">
            <a:avLst>
              <a:gd name="adj" fmla="val 50000"/>
            </a:avLst>
          </a:prstGeom>
          <a:solidFill>
            <a:srgbClr val="10B981"/>
          </a:solidFill>
          <a:ln/>
        </p:spPr>
      </p:sp>
      <p:sp>
        <p:nvSpPr>
          <p:cNvPr id="42" name="Shape 40"/>
          <p:cNvSpPr/>
          <p:nvPr/>
        </p:nvSpPr>
        <p:spPr>
          <a:xfrm>
            <a:off x="6007608" y="1097280"/>
            <a:ext cx="438912" cy="438912"/>
          </a:xfrm>
          <a:prstGeom prst="ellipse">
            <a:avLst/>
          </a:prstGeom>
          <a:solidFill>
            <a:srgbClr val="10B981"/>
          </a:solidFill>
          <a:ln/>
        </p:spPr>
      </p:sp>
      <p:sp>
        <p:nvSpPr>
          <p:cNvPr id="43" name="Text 41"/>
          <p:cNvSpPr/>
          <p:nvPr/>
        </p:nvSpPr>
        <p:spPr>
          <a:xfrm>
            <a:off x="6007608" y="1097280"/>
            <a:ext cx="438912" cy="438912"/>
          </a:xfrm>
          <a:prstGeom prst="rect">
            <a:avLst/>
          </a:prstGeom>
          <a:noFill/>
          <a:ln/>
        </p:spPr>
        <p:txBody>
          <a:bodyPr wrap="square" lIns="0" tIns="0" rIns="0" bIns="0" rtlCol="0" anchor="ctr"/>
          <a:lstStyle/>
          <a:p>
            <a:pPr algn="ctr" indent="0" marL="0">
              <a:buNone/>
            </a:pPr>
            <a:r>
              <a:rPr lang="en-US" sz="1100" b="1" dirty="0">
                <a:solidFill>
                  <a:srgbClr val="0A0E27"/>
                </a:solidFill>
              </a:rPr>
              <a:t>4</a:t>
            </a:r>
            <a:endParaRPr lang="en-US" sz="1100" dirty="0"/>
          </a:p>
        </p:txBody>
      </p:sp>
      <p:sp>
        <p:nvSpPr>
          <p:cNvPr id="44" name="Shape 42"/>
          <p:cNvSpPr/>
          <p:nvPr/>
        </p:nvSpPr>
        <p:spPr>
          <a:xfrm>
            <a:off x="5797296" y="1691640"/>
            <a:ext cx="868680" cy="868680"/>
          </a:xfrm>
          <a:prstGeom prst="roundRect">
            <a:avLst>
              <a:gd name="adj" fmla="val 10526"/>
            </a:avLst>
          </a:prstGeom>
          <a:solidFill>
            <a:srgbClr val="10B981">
              <a:alpha val="80000"/>
            </a:srgbClr>
          </a:solidFill>
          <a:ln/>
        </p:spPr>
      </p:sp>
      <p:sp>
        <p:nvSpPr>
          <p:cNvPr id="45" name="Text 43"/>
          <p:cNvSpPr/>
          <p:nvPr/>
        </p:nvSpPr>
        <p:spPr>
          <a:xfrm>
            <a:off x="5797296" y="1691640"/>
            <a:ext cx="868680" cy="8686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46" name="Text 44"/>
          <p:cNvSpPr/>
          <p:nvPr/>
        </p:nvSpPr>
        <p:spPr>
          <a:xfrm>
            <a:off x="5522976" y="2697480"/>
            <a:ext cx="1417320" cy="438912"/>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Verification</a:t>
            </a:r>
            <a:endParaRPr lang="en-US" sz="1050" dirty="0"/>
          </a:p>
        </p:txBody>
      </p:sp>
      <p:sp>
        <p:nvSpPr>
          <p:cNvPr id="47" name="Text 45"/>
          <p:cNvSpPr/>
          <p:nvPr/>
        </p:nvSpPr>
        <p:spPr>
          <a:xfrm>
            <a:off x="5550408" y="3200400"/>
            <a:ext cx="1371600" cy="128016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Cosine distance vs</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registered encodings</a:t>
            </a:r>
            <a:endParaRPr lang="en-US" sz="900" dirty="0"/>
          </a:p>
        </p:txBody>
      </p:sp>
      <p:sp>
        <p:nvSpPr>
          <p:cNvPr id="48" name="Shape 46"/>
          <p:cNvSpPr/>
          <p:nvPr/>
        </p:nvSpPr>
        <p:spPr>
          <a:xfrm>
            <a:off x="6986016" y="2834640"/>
            <a:ext cx="164592" cy="0"/>
          </a:xfrm>
          <a:prstGeom prst="line">
            <a:avLst/>
          </a:prstGeom>
          <a:noFill/>
          <a:ln w="25400">
            <a:solidFill>
              <a:srgbClr val="00B4D8"/>
            </a:solidFill>
            <a:prstDash val="solid"/>
          </a:ln>
        </p:spPr>
      </p:sp>
      <p:sp>
        <p:nvSpPr>
          <p:cNvPr id="49" name="Shape 47"/>
          <p:cNvSpPr/>
          <p:nvPr/>
        </p:nvSpPr>
        <p:spPr>
          <a:xfrm>
            <a:off x="7104888" y="2724912"/>
            <a:ext cx="164592" cy="164592"/>
          </a:xfrm>
          <a:prstGeom prst="line">
            <a:avLst/>
          </a:prstGeom>
          <a:noFill/>
          <a:ln w="25400">
            <a:solidFill>
              <a:srgbClr val="00B4D8"/>
            </a:solidFill>
            <a:prstDash val="solid"/>
          </a:ln>
        </p:spPr>
      </p:sp>
      <p:sp>
        <p:nvSpPr>
          <p:cNvPr id="50" name="Shape 48"/>
          <p:cNvSpPr/>
          <p:nvPr/>
        </p:nvSpPr>
        <p:spPr>
          <a:xfrm>
            <a:off x="7104888" y="2944368"/>
            <a:ext cx="164592" cy="-164592"/>
          </a:xfrm>
          <a:prstGeom prst="line">
            <a:avLst/>
          </a:prstGeom>
          <a:noFill/>
          <a:ln w="25400">
            <a:solidFill>
              <a:srgbClr val="00B4D8"/>
            </a:solidFill>
            <a:prstDash val="solid"/>
          </a:ln>
        </p:spPr>
      </p:sp>
      <p:sp>
        <p:nvSpPr>
          <p:cNvPr id="51" name="Shape 49"/>
          <p:cNvSpPr/>
          <p:nvPr/>
        </p:nvSpPr>
        <p:spPr>
          <a:xfrm>
            <a:off x="7150608" y="1005840"/>
            <a:ext cx="1508760" cy="3657600"/>
          </a:xfrm>
          <a:prstGeom prst="roundRect">
            <a:avLst>
              <a:gd name="adj" fmla="val 7273"/>
            </a:avLst>
          </a:prstGeom>
          <a:solidFill>
            <a:srgbClr val="1E293B"/>
          </a:solidFill>
          <a:ln/>
          <a:effectLst>
            <a:outerShdw sx="100000" sy="100000" kx="0" ky="0" algn="bl" rotWithShape="0" blurRad="127000" dist="50800" dir="2700000">
              <a:srgbClr val="000000">
                <a:alpha val="35000"/>
              </a:srgbClr>
            </a:outerShdw>
          </a:effectLst>
        </p:spPr>
      </p:sp>
      <p:sp>
        <p:nvSpPr>
          <p:cNvPr id="52" name="Shape 50"/>
          <p:cNvSpPr/>
          <p:nvPr/>
        </p:nvSpPr>
        <p:spPr>
          <a:xfrm>
            <a:off x="7150608" y="1005840"/>
            <a:ext cx="54864" cy="3657600"/>
          </a:xfrm>
          <a:prstGeom prst="roundRect">
            <a:avLst>
              <a:gd name="adj" fmla="val 50000"/>
            </a:avLst>
          </a:prstGeom>
          <a:solidFill>
            <a:srgbClr val="F59E0B"/>
          </a:solidFill>
          <a:ln/>
        </p:spPr>
      </p:sp>
      <p:sp>
        <p:nvSpPr>
          <p:cNvPr id="53" name="Shape 51"/>
          <p:cNvSpPr/>
          <p:nvPr/>
        </p:nvSpPr>
        <p:spPr>
          <a:xfrm>
            <a:off x="7680960" y="1097280"/>
            <a:ext cx="438912" cy="438912"/>
          </a:xfrm>
          <a:prstGeom prst="ellipse">
            <a:avLst/>
          </a:prstGeom>
          <a:solidFill>
            <a:srgbClr val="F59E0B"/>
          </a:solidFill>
          <a:ln/>
        </p:spPr>
      </p:sp>
      <p:sp>
        <p:nvSpPr>
          <p:cNvPr id="54" name="Text 52"/>
          <p:cNvSpPr/>
          <p:nvPr/>
        </p:nvSpPr>
        <p:spPr>
          <a:xfrm>
            <a:off x="7680960" y="1097280"/>
            <a:ext cx="438912" cy="438912"/>
          </a:xfrm>
          <a:prstGeom prst="rect">
            <a:avLst/>
          </a:prstGeom>
          <a:noFill/>
          <a:ln/>
        </p:spPr>
        <p:txBody>
          <a:bodyPr wrap="square" lIns="0" tIns="0" rIns="0" bIns="0" rtlCol="0" anchor="ctr"/>
          <a:lstStyle/>
          <a:p>
            <a:pPr algn="ctr" indent="0" marL="0">
              <a:buNone/>
            </a:pPr>
            <a:r>
              <a:rPr lang="en-US" sz="1100" b="1" dirty="0">
                <a:solidFill>
                  <a:srgbClr val="0A0E27"/>
                </a:solidFill>
              </a:rPr>
              <a:t>5</a:t>
            </a:r>
            <a:endParaRPr lang="en-US" sz="1100" dirty="0"/>
          </a:p>
        </p:txBody>
      </p:sp>
      <p:sp>
        <p:nvSpPr>
          <p:cNvPr id="55" name="Shape 53"/>
          <p:cNvSpPr/>
          <p:nvPr/>
        </p:nvSpPr>
        <p:spPr>
          <a:xfrm>
            <a:off x="7470648" y="1691640"/>
            <a:ext cx="868680" cy="868680"/>
          </a:xfrm>
          <a:prstGeom prst="roundRect">
            <a:avLst>
              <a:gd name="adj" fmla="val 10526"/>
            </a:avLst>
          </a:prstGeom>
          <a:solidFill>
            <a:srgbClr val="F59E0B">
              <a:alpha val="80000"/>
            </a:srgbClr>
          </a:solidFill>
          <a:ln/>
        </p:spPr>
      </p:sp>
      <p:sp>
        <p:nvSpPr>
          <p:cNvPr id="56" name="Text 54"/>
          <p:cNvSpPr/>
          <p:nvPr/>
        </p:nvSpPr>
        <p:spPr>
          <a:xfrm>
            <a:off x="7470648" y="1691640"/>
            <a:ext cx="868680" cy="8686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57" name="Text 55"/>
          <p:cNvSpPr/>
          <p:nvPr/>
        </p:nvSpPr>
        <p:spPr>
          <a:xfrm>
            <a:off x="7196328" y="2697480"/>
            <a:ext cx="1417320" cy="438912"/>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DB Update</a:t>
            </a:r>
            <a:endParaRPr lang="en-US" sz="1050" dirty="0"/>
          </a:p>
        </p:txBody>
      </p:sp>
      <p:sp>
        <p:nvSpPr>
          <p:cNvPr id="58" name="Text 56"/>
          <p:cNvSpPr/>
          <p:nvPr/>
        </p:nvSpPr>
        <p:spPr>
          <a:xfrm>
            <a:off x="7223760" y="3200400"/>
            <a:ext cx="1371600" cy="128016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Attendance saved</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to SQLite + CSV</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38BDF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07  WORKING METHODOLOGY</a:t>
            </a:r>
            <a:endParaRPr lang="en-US" sz="2600" dirty="0"/>
          </a:p>
        </p:txBody>
      </p:sp>
      <p:sp>
        <p:nvSpPr>
          <p:cNvPr id="5" name="Shape 3"/>
          <p:cNvSpPr/>
          <p:nvPr/>
        </p:nvSpPr>
        <p:spPr>
          <a:xfrm>
            <a:off x="0" y="850392"/>
            <a:ext cx="9144000" cy="36576"/>
          </a:xfrm>
          <a:prstGeom prst="rect">
            <a:avLst/>
          </a:prstGeom>
          <a:solidFill>
            <a:srgbClr val="38BDF8">
              <a:alpha val="40000"/>
            </a:srgbClr>
          </a:solidFill>
          <a:ln/>
        </p:spPr>
      </p:sp>
      <p:sp>
        <p:nvSpPr>
          <p:cNvPr id="6" name="Shape 4"/>
          <p:cNvSpPr/>
          <p:nvPr/>
        </p:nvSpPr>
        <p:spPr>
          <a:xfrm>
            <a:off x="8732520" y="201168"/>
            <a:ext cx="256032" cy="256032"/>
          </a:xfrm>
          <a:prstGeom prst="ellipse">
            <a:avLst/>
          </a:prstGeom>
          <a:solidFill>
            <a:srgbClr val="38BDF8">
              <a:alpha val="70000"/>
            </a:srgbClr>
          </a:solidFill>
          <a:ln/>
        </p:spPr>
      </p:sp>
      <p:sp>
        <p:nvSpPr>
          <p:cNvPr id="7" name="Shape 5"/>
          <p:cNvSpPr/>
          <p:nvPr/>
        </p:nvSpPr>
        <p:spPr>
          <a:xfrm>
            <a:off x="320040" y="1005840"/>
            <a:ext cx="4187952" cy="1170432"/>
          </a:xfrm>
          <a:prstGeom prst="roundRect">
            <a:avLst>
              <a:gd name="adj" fmla="val 9375"/>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20040" y="1005840"/>
            <a:ext cx="54864" cy="1170432"/>
          </a:xfrm>
          <a:prstGeom prst="roundRect">
            <a:avLst>
              <a:gd name="adj" fmla="val 50000"/>
            </a:avLst>
          </a:prstGeom>
          <a:solidFill>
            <a:srgbClr val="38BDF8"/>
          </a:solidFill>
          <a:ln/>
        </p:spPr>
      </p:sp>
      <p:sp>
        <p:nvSpPr>
          <p:cNvPr id="9" name="Shape 7"/>
          <p:cNvSpPr/>
          <p:nvPr/>
        </p:nvSpPr>
        <p:spPr>
          <a:xfrm>
            <a:off x="429768" y="1115568"/>
            <a:ext cx="804672" cy="914400"/>
          </a:xfrm>
          <a:prstGeom prst="roundRect">
            <a:avLst>
              <a:gd name="adj" fmla="val 9091"/>
            </a:avLst>
          </a:prstGeom>
          <a:solidFill>
            <a:srgbClr val="0F172A"/>
          </a:solidFill>
          <a:ln/>
        </p:spPr>
      </p:sp>
      <p:sp>
        <p:nvSpPr>
          <p:cNvPr id="10" name="Text 8"/>
          <p:cNvSpPr/>
          <p:nvPr/>
        </p:nvSpPr>
        <p:spPr>
          <a:xfrm>
            <a:off x="429768" y="1115568"/>
            <a:ext cx="804672"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429768" y="1618488"/>
            <a:ext cx="804672" cy="274320"/>
          </a:xfrm>
          <a:prstGeom prst="rect">
            <a:avLst/>
          </a:prstGeom>
          <a:noFill/>
          <a:ln/>
        </p:spPr>
        <p:txBody>
          <a:bodyPr wrap="square" lIns="0" tIns="0" rIns="0" bIns="0" rtlCol="0" anchor="ctr"/>
          <a:lstStyle/>
          <a:p>
            <a:pPr algn="ctr" indent="0" marL="0">
              <a:buNone/>
            </a:pPr>
            <a:r>
              <a:rPr lang="en-US" sz="700" b="1" spc="100" kern="0" dirty="0">
                <a:solidFill>
                  <a:srgbClr val="38BDF8"/>
                </a:solidFill>
              </a:rPr>
              <a:t>STEP 1</a:t>
            </a:r>
            <a:endParaRPr lang="en-US" sz="700" dirty="0"/>
          </a:p>
        </p:txBody>
      </p:sp>
      <p:sp>
        <p:nvSpPr>
          <p:cNvPr id="12" name="Text 10"/>
          <p:cNvSpPr/>
          <p:nvPr/>
        </p:nvSpPr>
        <p:spPr>
          <a:xfrm>
            <a:off x="1371600" y="1097280"/>
            <a:ext cx="3017520" cy="347472"/>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Capture Face</a:t>
            </a:r>
            <a:endParaRPr lang="en-US" sz="1300" dirty="0"/>
          </a:p>
        </p:txBody>
      </p:sp>
      <p:sp>
        <p:nvSpPr>
          <p:cNvPr id="13" name="Text 11"/>
          <p:cNvSpPr/>
          <p:nvPr/>
        </p:nvSpPr>
        <p:spPr>
          <a:xfrm>
            <a:off x="1371600" y="1481328"/>
            <a:ext cx="3017520" cy="59436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Webcam opens via OpenCV VideoCapture(0) and reads frames in real time.</a:t>
            </a:r>
            <a:endParaRPr lang="en-US" sz="950" dirty="0"/>
          </a:p>
        </p:txBody>
      </p:sp>
      <p:sp>
        <p:nvSpPr>
          <p:cNvPr id="14" name="Shape 12"/>
          <p:cNvSpPr/>
          <p:nvPr/>
        </p:nvSpPr>
        <p:spPr>
          <a:xfrm>
            <a:off x="4754880" y="1005840"/>
            <a:ext cx="4187952" cy="1170432"/>
          </a:xfrm>
          <a:prstGeom prst="roundRect">
            <a:avLst>
              <a:gd name="adj" fmla="val 9375"/>
            </a:avLst>
          </a:prstGeom>
          <a:solidFill>
            <a:srgbClr val="1E293B"/>
          </a:solidFill>
          <a:ln/>
          <a:effectLst>
            <a:outerShdw sx="100000" sy="100000" kx="0" ky="0" algn="bl" rotWithShape="0" blurRad="127000" dist="50800" dir="2700000">
              <a:srgbClr val="000000">
                <a:alpha val="35000"/>
              </a:srgbClr>
            </a:outerShdw>
          </a:effectLst>
        </p:spPr>
      </p:sp>
      <p:sp>
        <p:nvSpPr>
          <p:cNvPr id="15" name="Shape 13"/>
          <p:cNvSpPr/>
          <p:nvPr/>
        </p:nvSpPr>
        <p:spPr>
          <a:xfrm>
            <a:off x="4754880" y="1005840"/>
            <a:ext cx="54864" cy="1170432"/>
          </a:xfrm>
          <a:prstGeom prst="roundRect">
            <a:avLst>
              <a:gd name="adj" fmla="val 50000"/>
            </a:avLst>
          </a:prstGeom>
          <a:solidFill>
            <a:srgbClr val="1976D2"/>
          </a:solidFill>
          <a:ln/>
        </p:spPr>
      </p:sp>
      <p:sp>
        <p:nvSpPr>
          <p:cNvPr id="16" name="Shape 14"/>
          <p:cNvSpPr/>
          <p:nvPr/>
        </p:nvSpPr>
        <p:spPr>
          <a:xfrm>
            <a:off x="4864608" y="1115568"/>
            <a:ext cx="804672" cy="914400"/>
          </a:xfrm>
          <a:prstGeom prst="roundRect">
            <a:avLst>
              <a:gd name="adj" fmla="val 9091"/>
            </a:avLst>
          </a:prstGeom>
          <a:solidFill>
            <a:srgbClr val="0F172A"/>
          </a:solidFill>
          <a:ln/>
        </p:spPr>
      </p:sp>
      <p:sp>
        <p:nvSpPr>
          <p:cNvPr id="17" name="Text 15"/>
          <p:cNvSpPr/>
          <p:nvPr/>
        </p:nvSpPr>
        <p:spPr>
          <a:xfrm>
            <a:off x="4864608" y="1115568"/>
            <a:ext cx="804672"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4864608" y="1618488"/>
            <a:ext cx="804672" cy="274320"/>
          </a:xfrm>
          <a:prstGeom prst="rect">
            <a:avLst/>
          </a:prstGeom>
          <a:noFill/>
          <a:ln/>
        </p:spPr>
        <p:txBody>
          <a:bodyPr wrap="square" lIns="0" tIns="0" rIns="0" bIns="0" rtlCol="0" anchor="ctr"/>
          <a:lstStyle/>
          <a:p>
            <a:pPr algn="ctr" indent="0" marL="0">
              <a:buNone/>
            </a:pPr>
            <a:r>
              <a:rPr lang="en-US" sz="700" b="1" spc="100" kern="0" dirty="0">
                <a:solidFill>
                  <a:srgbClr val="1976D2"/>
                </a:solidFill>
              </a:rPr>
              <a:t>STEP 2</a:t>
            </a:r>
            <a:endParaRPr lang="en-US" sz="700" dirty="0"/>
          </a:p>
        </p:txBody>
      </p:sp>
      <p:sp>
        <p:nvSpPr>
          <p:cNvPr id="19" name="Text 17"/>
          <p:cNvSpPr/>
          <p:nvPr/>
        </p:nvSpPr>
        <p:spPr>
          <a:xfrm>
            <a:off x="5806440" y="1097280"/>
            <a:ext cx="3017520" cy="347472"/>
          </a:xfrm>
          <a:prstGeom prst="rect">
            <a:avLst/>
          </a:prstGeom>
          <a:noFill/>
          <a:ln/>
        </p:spPr>
        <p:txBody>
          <a:bodyPr wrap="square" lIns="0" tIns="0" rIns="0" bIns="0" rtlCol="0" anchor="ctr"/>
          <a:lstStyle/>
          <a:p>
            <a:pPr indent="0" marL="0">
              <a:buNone/>
            </a:pPr>
            <a:r>
              <a:rPr lang="en-US" sz="1300" b="1" dirty="0">
                <a:solidFill>
                  <a:srgbClr val="1976D2"/>
                </a:solidFill>
                <a:latin typeface="Calibri" pitchFamily="34" charset="0"/>
                <a:ea typeface="Calibri" pitchFamily="34" charset="-122"/>
                <a:cs typeface="Calibri" pitchFamily="34" charset="-120"/>
              </a:rPr>
              <a:t>Detect Face</a:t>
            </a:r>
            <a:endParaRPr lang="en-US" sz="1300" dirty="0"/>
          </a:p>
        </p:txBody>
      </p:sp>
      <p:sp>
        <p:nvSpPr>
          <p:cNvPr id="20" name="Text 18"/>
          <p:cNvSpPr/>
          <p:nvPr/>
        </p:nvSpPr>
        <p:spPr>
          <a:xfrm>
            <a:off x="5806440" y="1481328"/>
            <a:ext cx="3017520" cy="59436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Haar Cascade Classifier draws bounding box around detected face region.</a:t>
            </a:r>
            <a:endParaRPr lang="en-US" sz="950" dirty="0"/>
          </a:p>
        </p:txBody>
      </p:sp>
      <p:sp>
        <p:nvSpPr>
          <p:cNvPr id="21" name="Shape 19"/>
          <p:cNvSpPr/>
          <p:nvPr/>
        </p:nvSpPr>
        <p:spPr>
          <a:xfrm>
            <a:off x="320040" y="2331720"/>
            <a:ext cx="4187952" cy="1170432"/>
          </a:xfrm>
          <a:prstGeom prst="roundRect">
            <a:avLst>
              <a:gd name="adj" fmla="val 9375"/>
            </a:avLst>
          </a:prstGeom>
          <a:solidFill>
            <a:srgbClr val="1E293B"/>
          </a:solidFill>
          <a:ln/>
          <a:effectLst>
            <a:outerShdw sx="100000" sy="100000" kx="0" ky="0" algn="bl" rotWithShape="0" blurRad="127000" dist="50800" dir="2700000">
              <a:srgbClr val="000000">
                <a:alpha val="35000"/>
              </a:srgbClr>
            </a:outerShdw>
          </a:effectLst>
        </p:spPr>
      </p:sp>
      <p:sp>
        <p:nvSpPr>
          <p:cNvPr id="22" name="Shape 20"/>
          <p:cNvSpPr/>
          <p:nvPr/>
        </p:nvSpPr>
        <p:spPr>
          <a:xfrm>
            <a:off x="320040" y="2331720"/>
            <a:ext cx="54864" cy="1170432"/>
          </a:xfrm>
          <a:prstGeom prst="roundRect">
            <a:avLst>
              <a:gd name="adj" fmla="val 50000"/>
            </a:avLst>
          </a:prstGeom>
          <a:solidFill>
            <a:srgbClr val="818CF8"/>
          </a:solidFill>
          <a:ln/>
        </p:spPr>
      </p:sp>
      <p:sp>
        <p:nvSpPr>
          <p:cNvPr id="23" name="Shape 21"/>
          <p:cNvSpPr/>
          <p:nvPr/>
        </p:nvSpPr>
        <p:spPr>
          <a:xfrm>
            <a:off x="429768" y="2441448"/>
            <a:ext cx="804672" cy="914400"/>
          </a:xfrm>
          <a:prstGeom prst="roundRect">
            <a:avLst>
              <a:gd name="adj" fmla="val 9091"/>
            </a:avLst>
          </a:prstGeom>
          <a:solidFill>
            <a:srgbClr val="0F172A"/>
          </a:solidFill>
          <a:ln/>
        </p:spPr>
      </p:sp>
      <p:sp>
        <p:nvSpPr>
          <p:cNvPr id="24" name="Text 22"/>
          <p:cNvSpPr/>
          <p:nvPr/>
        </p:nvSpPr>
        <p:spPr>
          <a:xfrm>
            <a:off x="429768" y="2441448"/>
            <a:ext cx="804672"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429768" y="2944368"/>
            <a:ext cx="804672" cy="274320"/>
          </a:xfrm>
          <a:prstGeom prst="rect">
            <a:avLst/>
          </a:prstGeom>
          <a:noFill/>
          <a:ln/>
        </p:spPr>
        <p:txBody>
          <a:bodyPr wrap="square" lIns="0" tIns="0" rIns="0" bIns="0" rtlCol="0" anchor="ctr"/>
          <a:lstStyle/>
          <a:p>
            <a:pPr algn="ctr" indent="0" marL="0">
              <a:buNone/>
            </a:pPr>
            <a:r>
              <a:rPr lang="en-US" sz="700" b="1" spc="100" kern="0" dirty="0">
                <a:solidFill>
                  <a:srgbClr val="818CF8"/>
                </a:solidFill>
              </a:rPr>
              <a:t>STEP 3</a:t>
            </a:r>
            <a:endParaRPr lang="en-US" sz="700" dirty="0"/>
          </a:p>
        </p:txBody>
      </p:sp>
      <p:sp>
        <p:nvSpPr>
          <p:cNvPr id="26" name="Text 24"/>
          <p:cNvSpPr/>
          <p:nvPr/>
        </p:nvSpPr>
        <p:spPr>
          <a:xfrm>
            <a:off x="1371600" y="2423160"/>
            <a:ext cx="3017520" cy="347472"/>
          </a:xfrm>
          <a:prstGeom prst="rect">
            <a:avLst/>
          </a:prstGeom>
          <a:noFill/>
          <a:ln/>
        </p:spPr>
        <p:txBody>
          <a:bodyPr wrap="square" lIns="0" tIns="0" rIns="0" bIns="0" rtlCol="0" anchor="ctr"/>
          <a:lstStyle/>
          <a:p>
            <a:pPr indent="0" marL="0">
              <a:buNone/>
            </a:pPr>
            <a:r>
              <a:rPr lang="en-US" sz="1300" b="1" dirty="0">
                <a:solidFill>
                  <a:srgbClr val="818CF8"/>
                </a:solidFill>
                <a:latin typeface="Calibri" pitchFamily="34" charset="0"/>
                <a:ea typeface="Calibri" pitchFamily="34" charset="-122"/>
                <a:cs typeface="Calibri" pitchFamily="34" charset="-120"/>
              </a:rPr>
              <a:t>Extract Features</a:t>
            </a:r>
            <a:endParaRPr lang="en-US" sz="1300" dirty="0"/>
          </a:p>
        </p:txBody>
      </p:sp>
      <p:sp>
        <p:nvSpPr>
          <p:cNvPr id="27" name="Text 25"/>
          <p:cNvSpPr/>
          <p:nvPr/>
        </p:nvSpPr>
        <p:spPr>
          <a:xfrm>
            <a:off x="1371600" y="2807208"/>
            <a:ext cx="3017520" cy="59436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DeepFace generates a 128-dimensional numerical face embedding vector.</a:t>
            </a:r>
            <a:endParaRPr lang="en-US" sz="950" dirty="0"/>
          </a:p>
        </p:txBody>
      </p:sp>
      <p:sp>
        <p:nvSpPr>
          <p:cNvPr id="28" name="Shape 26"/>
          <p:cNvSpPr/>
          <p:nvPr/>
        </p:nvSpPr>
        <p:spPr>
          <a:xfrm>
            <a:off x="4754880" y="2331720"/>
            <a:ext cx="4187952" cy="1170432"/>
          </a:xfrm>
          <a:prstGeom prst="roundRect">
            <a:avLst>
              <a:gd name="adj" fmla="val 9375"/>
            </a:avLst>
          </a:prstGeom>
          <a:solidFill>
            <a:srgbClr val="1E293B"/>
          </a:solidFill>
          <a:ln/>
          <a:effectLst>
            <a:outerShdw sx="100000" sy="100000" kx="0" ky="0" algn="bl" rotWithShape="0" blurRad="127000" dist="50800" dir="2700000">
              <a:srgbClr val="000000">
                <a:alpha val="35000"/>
              </a:srgbClr>
            </a:outerShdw>
          </a:effectLst>
        </p:spPr>
      </p:sp>
      <p:sp>
        <p:nvSpPr>
          <p:cNvPr id="29" name="Shape 27"/>
          <p:cNvSpPr/>
          <p:nvPr/>
        </p:nvSpPr>
        <p:spPr>
          <a:xfrm>
            <a:off x="4754880" y="2331720"/>
            <a:ext cx="54864" cy="1170432"/>
          </a:xfrm>
          <a:prstGeom prst="roundRect">
            <a:avLst>
              <a:gd name="adj" fmla="val 50000"/>
            </a:avLst>
          </a:prstGeom>
          <a:solidFill>
            <a:srgbClr val="F59E0B"/>
          </a:solidFill>
          <a:ln/>
        </p:spPr>
      </p:sp>
      <p:sp>
        <p:nvSpPr>
          <p:cNvPr id="30" name="Shape 28"/>
          <p:cNvSpPr/>
          <p:nvPr/>
        </p:nvSpPr>
        <p:spPr>
          <a:xfrm>
            <a:off x="4864608" y="2441448"/>
            <a:ext cx="804672" cy="914400"/>
          </a:xfrm>
          <a:prstGeom prst="roundRect">
            <a:avLst>
              <a:gd name="adj" fmla="val 9091"/>
            </a:avLst>
          </a:prstGeom>
          <a:solidFill>
            <a:srgbClr val="0F172A"/>
          </a:solidFill>
          <a:ln/>
        </p:spPr>
      </p:sp>
      <p:sp>
        <p:nvSpPr>
          <p:cNvPr id="31" name="Text 29"/>
          <p:cNvSpPr/>
          <p:nvPr/>
        </p:nvSpPr>
        <p:spPr>
          <a:xfrm>
            <a:off x="4864608" y="2441448"/>
            <a:ext cx="804672"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4864608" y="2944368"/>
            <a:ext cx="804672" cy="274320"/>
          </a:xfrm>
          <a:prstGeom prst="rect">
            <a:avLst/>
          </a:prstGeom>
          <a:noFill/>
          <a:ln/>
        </p:spPr>
        <p:txBody>
          <a:bodyPr wrap="square" lIns="0" tIns="0" rIns="0" bIns="0" rtlCol="0" anchor="ctr"/>
          <a:lstStyle/>
          <a:p>
            <a:pPr algn="ctr" indent="0" marL="0">
              <a:buNone/>
            </a:pPr>
            <a:r>
              <a:rPr lang="en-US" sz="700" b="1" spc="100" kern="0" dirty="0">
                <a:solidFill>
                  <a:srgbClr val="F59E0B"/>
                </a:solidFill>
              </a:rPr>
              <a:t>STEP 4</a:t>
            </a:r>
            <a:endParaRPr lang="en-US" sz="700" dirty="0"/>
          </a:p>
        </p:txBody>
      </p:sp>
      <p:sp>
        <p:nvSpPr>
          <p:cNvPr id="33" name="Text 31"/>
          <p:cNvSpPr/>
          <p:nvPr/>
        </p:nvSpPr>
        <p:spPr>
          <a:xfrm>
            <a:off x="5806440" y="2423160"/>
            <a:ext cx="3017520" cy="347472"/>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Compare Dataset</a:t>
            </a:r>
            <a:endParaRPr lang="en-US" sz="1300" dirty="0"/>
          </a:p>
        </p:txBody>
      </p:sp>
      <p:sp>
        <p:nvSpPr>
          <p:cNvPr id="34" name="Text 32"/>
          <p:cNvSpPr/>
          <p:nvPr/>
        </p:nvSpPr>
        <p:spPr>
          <a:xfrm>
            <a:off x="5806440" y="2807208"/>
            <a:ext cx="3017520" cy="59436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Cosine distance compared against all stored embeddings in the dataset.</a:t>
            </a:r>
            <a:endParaRPr lang="en-US" sz="950" dirty="0"/>
          </a:p>
        </p:txBody>
      </p:sp>
      <p:sp>
        <p:nvSpPr>
          <p:cNvPr id="35" name="Shape 33"/>
          <p:cNvSpPr/>
          <p:nvPr/>
        </p:nvSpPr>
        <p:spPr>
          <a:xfrm>
            <a:off x="320040" y="3657600"/>
            <a:ext cx="4187952" cy="1170432"/>
          </a:xfrm>
          <a:prstGeom prst="roundRect">
            <a:avLst>
              <a:gd name="adj" fmla="val 9375"/>
            </a:avLst>
          </a:prstGeom>
          <a:solidFill>
            <a:srgbClr val="1E293B"/>
          </a:solidFill>
          <a:ln/>
          <a:effectLst>
            <a:outerShdw sx="100000" sy="100000" kx="0" ky="0" algn="bl" rotWithShape="0" blurRad="127000" dist="50800" dir="2700000">
              <a:srgbClr val="000000">
                <a:alpha val="35000"/>
              </a:srgbClr>
            </a:outerShdw>
          </a:effectLst>
        </p:spPr>
      </p:sp>
      <p:sp>
        <p:nvSpPr>
          <p:cNvPr id="36" name="Shape 34"/>
          <p:cNvSpPr/>
          <p:nvPr/>
        </p:nvSpPr>
        <p:spPr>
          <a:xfrm>
            <a:off x="320040" y="3657600"/>
            <a:ext cx="54864" cy="1170432"/>
          </a:xfrm>
          <a:prstGeom prst="roundRect">
            <a:avLst>
              <a:gd name="adj" fmla="val 50000"/>
            </a:avLst>
          </a:prstGeom>
          <a:solidFill>
            <a:srgbClr val="10B981"/>
          </a:solidFill>
          <a:ln/>
        </p:spPr>
      </p:sp>
      <p:sp>
        <p:nvSpPr>
          <p:cNvPr id="37" name="Shape 35"/>
          <p:cNvSpPr/>
          <p:nvPr/>
        </p:nvSpPr>
        <p:spPr>
          <a:xfrm>
            <a:off x="429768" y="3767328"/>
            <a:ext cx="804672" cy="914400"/>
          </a:xfrm>
          <a:prstGeom prst="roundRect">
            <a:avLst>
              <a:gd name="adj" fmla="val 9091"/>
            </a:avLst>
          </a:prstGeom>
          <a:solidFill>
            <a:srgbClr val="0F172A"/>
          </a:solidFill>
          <a:ln/>
        </p:spPr>
      </p:sp>
      <p:sp>
        <p:nvSpPr>
          <p:cNvPr id="38" name="Text 36"/>
          <p:cNvSpPr/>
          <p:nvPr/>
        </p:nvSpPr>
        <p:spPr>
          <a:xfrm>
            <a:off x="429768" y="3767328"/>
            <a:ext cx="804672"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9" name="Text 37"/>
          <p:cNvSpPr/>
          <p:nvPr/>
        </p:nvSpPr>
        <p:spPr>
          <a:xfrm>
            <a:off x="429768" y="4270248"/>
            <a:ext cx="804672" cy="274320"/>
          </a:xfrm>
          <a:prstGeom prst="rect">
            <a:avLst/>
          </a:prstGeom>
          <a:noFill/>
          <a:ln/>
        </p:spPr>
        <p:txBody>
          <a:bodyPr wrap="square" lIns="0" tIns="0" rIns="0" bIns="0" rtlCol="0" anchor="ctr"/>
          <a:lstStyle/>
          <a:p>
            <a:pPr algn="ctr" indent="0" marL="0">
              <a:buNone/>
            </a:pPr>
            <a:r>
              <a:rPr lang="en-US" sz="700" b="1" spc="100" kern="0" dirty="0">
                <a:solidFill>
                  <a:srgbClr val="10B981"/>
                </a:solidFill>
              </a:rPr>
              <a:t>STEP 5</a:t>
            </a:r>
            <a:endParaRPr lang="en-US" sz="700" dirty="0"/>
          </a:p>
        </p:txBody>
      </p:sp>
      <p:sp>
        <p:nvSpPr>
          <p:cNvPr id="40" name="Text 38"/>
          <p:cNvSpPr/>
          <p:nvPr/>
        </p:nvSpPr>
        <p:spPr>
          <a:xfrm>
            <a:off x="1371600" y="3749040"/>
            <a:ext cx="3017520" cy="347472"/>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Identify Person</a:t>
            </a:r>
            <a:endParaRPr lang="en-US" sz="1300" dirty="0"/>
          </a:p>
        </p:txBody>
      </p:sp>
      <p:sp>
        <p:nvSpPr>
          <p:cNvPr id="41" name="Text 39"/>
          <p:cNvSpPr/>
          <p:nvPr/>
        </p:nvSpPr>
        <p:spPr>
          <a:xfrm>
            <a:off x="1371600" y="4133088"/>
            <a:ext cx="3017520" cy="59436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Best match below distance threshold → student identity confirmed.</a:t>
            </a:r>
            <a:endParaRPr lang="en-US" sz="950" dirty="0"/>
          </a:p>
        </p:txBody>
      </p:sp>
      <p:sp>
        <p:nvSpPr>
          <p:cNvPr id="42" name="Shape 40"/>
          <p:cNvSpPr/>
          <p:nvPr/>
        </p:nvSpPr>
        <p:spPr>
          <a:xfrm>
            <a:off x="4754880" y="3657600"/>
            <a:ext cx="4187952" cy="1170432"/>
          </a:xfrm>
          <a:prstGeom prst="roundRect">
            <a:avLst>
              <a:gd name="adj" fmla="val 9375"/>
            </a:avLst>
          </a:prstGeom>
          <a:solidFill>
            <a:srgbClr val="1E293B"/>
          </a:solidFill>
          <a:ln/>
          <a:effectLst>
            <a:outerShdw sx="100000" sy="100000" kx="0" ky="0" algn="bl" rotWithShape="0" blurRad="127000" dist="50800" dir="2700000">
              <a:srgbClr val="000000">
                <a:alpha val="35000"/>
              </a:srgbClr>
            </a:outerShdw>
          </a:effectLst>
        </p:spPr>
      </p:sp>
      <p:sp>
        <p:nvSpPr>
          <p:cNvPr id="43" name="Shape 41"/>
          <p:cNvSpPr/>
          <p:nvPr/>
        </p:nvSpPr>
        <p:spPr>
          <a:xfrm>
            <a:off x="4754880" y="3657600"/>
            <a:ext cx="54864" cy="1170432"/>
          </a:xfrm>
          <a:prstGeom prst="roundRect">
            <a:avLst>
              <a:gd name="adj" fmla="val 50000"/>
            </a:avLst>
          </a:prstGeom>
          <a:solidFill>
            <a:srgbClr val="EF4444"/>
          </a:solidFill>
          <a:ln/>
        </p:spPr>
      </p:sp>
      <p:sp>
        <p:nvSpPr>
          <p:cNvPr id="44" name="Shape 42"/>
          <p:cNvSpPr/>
          <p:nvPr/>
        </p:nvSpPr>
        <p:spPr>
          <a:xfrm>
            <a:off x="4864608" y="3767328"/>
            <a:ext cx="804672" cy="914400"/>
          </a:xfrm>
          <a:prstGeom prst="roundRect">
            <a:avLst>
              <a:gd name="adj" fmla="val 9091"/>
            </a:avLst>
          </a:prstGeom>
          <a:solidFill>
            <a:srgbClr val="0F172A"/>
          </a:solidFill>
          <a:ln/>
        </p:spPr>
      </p:sp>
      <p:sp>
        <p:nvSpPr>
          <p:cNvPr id="45" name="Text 43"/>
          <p:cNvSpPr/>
          <p:nvPr/>
        </p:nvSpPr>
        <p:spPr>
          <a:xfrm>
            <a:off x="4864608" y="3767328"/>
            <a:ext cx="804672"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46" name="Text 44"/>
          <p:cNvSpPr/>
          <p:nvPr/>
        </p:nvSpPr>
        <p:spPr>
          <a:xfrm>
            <a:off x="4864608" y="4270248"/>
            <a:ext cx="804672" cy="274320"/>
          </a:xfrm>
          <a:prstGeom prst="rect">
            <a:avLst/>
          </a:prstGeom>
          <a:noFill/>
          <a:ln/>
        </p:spPr>
        <p:txBody>
          <a:bodyPr wrap="square" lIns="0" tIns="0" rIns="0" bIns="0" rtlCol="0" anchor="ctr"/>
          <a:lstStyle/>
          <a:p>
            <a:pPr algn="ctr" indent="0" marL="0">
              <a:buNone/>
            </a:pPr>
            <a:r>
              <a:rPr lang="en-US" sz="700" b="1" spc="100" kern="0" dirty="0">
                <a:solidFill>
                  <a:srgbClr val="EF4444"/>
                </a:solidFill>
              </a:rPr>
              <a:t>STEP 6</a:t>
            </a:r>
            <a:endParaRPr lang="en-US" sz="700" dirty="0"/>
          </a:p>
        </p:txBody>
      </p:sp>
      <p:sp>
        <p:nvSpPr>
          <p:cNvPr id="47" name="Text 45"/>
          <p:cNvSpPr/>
          <p:nvPr/>
        </p:nvSpPr>
        <p:spPr>
          <a:xfrm>
            <a:off x="5806440" y="3749040"/>
            <a:ext cx="301752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Mark Attendance</a:t>
            </a:r>
            <a:endParaRPr lang="en-US" sz="1300" dirty="0"/>
          </a:p>
        </p:txBody>
      </p:sp>
      <p:sp>
        <p:nvSpPr>
          <p:cNvPr id="48" name="Text 46"/>
          <p:cNvSpPr/>
          <p:nvPr/>
        </p:nvSpPr>
        <p:spPr>
          <a:xfrm>
            <a:off x="5806440" y="4133088"/>
            <a:ext cx="3017520" cy="59436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Name, date, time &amp; status written to SQLite DB — no duplicates today.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10B981"/>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08  KEY FEATURES</a:t>
            </a:r>
            <a:endParaRPr lang="en-US" sz="2600" dirty="0"/>
          </a:p>
        </p:txBody>
      </p:sp>
      <p:sp>
        <p:nvSpPr>
          <p:cNvPr id="5" name="Shape 3"/>
          <p:cNvSpPr/>
          <p:nvPr/>
        </p:nvSpPr>
        <p:spPr>
          <a:xfrm>
            <a:off x="0" y="850392"/>
            <a:ext cx="9144000" cy="36576"/>
          </a:xfrm>
          <a:prstGeom prst="rect">
            <a:avLst/>
          </a:prstGeom>
          <a:solidFill>
            <a:srgbClr val="10B981">
              <a:alpha val="40000"/>
            </a:srgbClr>
          </a:solidFill>
          <a:ln/>
        </p:spPr>
      </p:sp>
      <p:sp>
        <p:nvSpPr>
          <p:cNvPr id="6" name="Shape 4"/>
          <p:cNvSpPr/>
          <p:nvPr/>
        </p:nvSpPr>
        <p:spPr>
          <a:xfrm>
            <a:off x="8732520" y="201168"/>
            <a:ext cx="256032" cy="256032"/>
          </a:xfrm>
          <a:prstGeom prst="ellipse">
            <a:avLst/>
          </a:prstGeom>
          <a:solidFill>
            <a:srgbClr val="10B981">
              <a:alpha val="70000"/>
            </a:srgbClr>
          </a:solidFill>
          <a:ln/>
        </p:spPr>
      </p:sp>
      <p:sp>
        <p:nvSpPr>
          <p:cNvPr id="7" name="Shape 5"/>
          <p:cNvSpPr/>
          <p:nvPr/>
        </p:nvSpPr>
        <p:spPr>
          <a:xfrm>
            <a:off x="320040" y="1005840"/>
            <a:ext cx="2743200" cy="1719072"/>
          </a:xfrm>
          <a:prstGeom prst="roundRect">
            <a:avLst>
              <a:gd name="adj" fmla="val 6383"/>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20040" y="1005840"/>
            <a:ext cx="54864" cy="1719072"/>
          </a:xfrm>
          <a:prstGeom prst="roundRect">
            <a:avLst>
              <a:gd name="adj" fmla="val 50000"/>
            </a:avLst>
          </a:prstGeom>
          <a:solidFill>
            <a:srgbClr val="38BDF8"/>
          </a:solidFill>
          <a:ln/>
        </p:spPr>
      </p:sp>
      <p:sp>
        <p:nvSpPr>
          <p:cNvPr id="9" name="Shape 7"/>
          <p:cNvSpPr/>
          <p:nvPr/>
        </p:nvSpPr>
        <p:spPr>
          <a:xfrm>
            <a:off x="484632" y="1188720"/>
            <a:ext cx="621792" cy="621792"/>
          </a:xfrm>
          <a:prstGeom prst="ellipse">
            <a:avLst/>
          </a:prstGeom>
          <a:solidFill>
            <a:srgbClr val="38BDF8">
              <a:alpha val="85000"/>
            </a:srgbClr>
          </a:solidFill>
          <a:ln/>
        </p:spPr>
      </p:sp>
      <p:sp>
        <p:nvSpPr>
          <p:cNvPr id="10" name="Text 8"/>
          <p:cNvSpPr/>
          <p:nvPr/>
        </p:nvSpPr>
        <p:spPr>
          <a:xfrm>
            <a:off x="484632" y="1188720"/>
            <a:ext cx="621792" cy="621792"/>
          </a:xfrm>
          <a:prstGeom prst="rect">
            <a:avLst/>
          </a:prstGeom>
          <a:noFill/>
          <a:ln/>
        </p:spPr>
        <p:txBody>
          <a:bodyPr wrap="square" lIns="0" tIns="0" rIns="0" bIns="0" rtlCol="0" anchor="ctr"/>
          <a:lstStyle/>
          <a:p>
            <a:pPr algn="ctr" indent="0" marL="0">
              <a:buNone/>
            </a:pPr>
            <a:r>
              <a:rPr lang="en-US" sz="2300" dirty="0">
                <a:solidFill>
                  <a:srgbClr val="000000"/>
                </a:solidFill>
              </a:rPr>
              <a:t>⚡</a:t>
            </a:r>
            <a:endParaRPr lang="en-US" sz="2300" dirty="0"/>
          </a:p>
        </p:txBody>
      </p:sp>
      <p:sp>
        <p:nvSpPr>
          <p:cNvPr id="11" name="Text 9"/>
          <p:cNvSpPr/>
          <p:nvPr/>
        </p:nvSpPr>
        <p:spPr>
          <a:xfrm>
            <a:off x="1252728" y="1207008"/>
            <a:ext cx="1691640" cy="475488"/>
          </a:xfrm>
          <a:prstGeom prst="rect">
            <a:avLst/>
          </a:prstGeom>
          <a:noFill/>
          <a:ln/>
        </p:spPr>
        <p:txBody>
          <a:bodyPr wrap="square" lIns="0" tIns="0" rIns="0" bIns="0" rtlCol="0" anchor="ctr"/>
          <a:lstStyle/>
          <a:p>
            <a:pPr indent="0" marL="0">
              <a:buNone/>
            </a:pPr>
            <a:r>
              <a:rPr lang="en-US" sz="1150" b="1" dirty="0">
                <a:solidFill>
                  <a:srgbClr val="38BDF8"/>
                </a:solidFill>
                <a:latin typeface="Calibri" pitchFamily="34" charset="0"/>
                <a:ea typeface="Calibri" pitchFamily="34" charset="-122"/>
                <a:cs typeface="Calibri" pitchFamily="34" charset="-120"/>
              </a:rPr>
              <a:t>Real-Time Recognition</a:t>
            </a:r>
            <a:endParaRPr lang="en-US" sz="1150" dirty="0"/>
          </a:p>
        </p:txBody>
      </p:sp>
      <p:sp>
        <p:nvSpPr>
          <p:cNvPr id="12" name="Text 10"/>
          <p:cNvSpPr/>
          <p:nvPr/>
        </p:nvSpPr>
        <p:spPr>
          <a:xfrm>
            <a:off x="484632" y="1993392"/>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Processes live webcam frames instantly with DeepFace Facenet512 model.</a:t>
            </a:r>
            <a:endParaRPr lang="en-US" sz="950" dirty="0"/>
          </a:p>
        </p:txBody>
      </p:sp>
      <p:sp>
        <p:nvSpPr>
          <p:cNvPr id="13" name="Shape 11"/>
          <p:cNvSpPr/>
          <p:nvPr/>
        </p:nvSpPr>
        <p:spPr>
          <a:xfrm>
            <a:off x="3246120" y="1005840"/>
            <a:ext cx="2743200" cy="1719072"/>
          </a:xfrm>
          <a:prstGeom prst="roundRect">
            <a:avLst>
              <a:gd name="adj" fmla="val 6383"/>
            </a:avLst>
          </a:prstGeom>
          <a:solidFill>
            <a:srgbClr val="1E293B"/>
          </a:solidFill>
          <a:ln/>
          <a:effectLst>
            <a:outerShdw sx="100000" sy="100000" kx="0" ky="0" algn="bl" rotWithShape="0" blurRad="127000" dist="50800" dir="2700000">
              <a:srgbClr val="000000">
                <a:alpha val="35000"/>
              </a:srgbClr>
            </a:outerShdw>
          </a:effectLst>
        </p:spPr>
      </p:sp>
      <p:sp>
        <p:nvSpPr>
          <p:cNvPr id="14" name="Shape 12"/>
          <p:cNvSpPr/>
          <p:nvPr/>
        </p:nvSpPr>
        <p:spPr>
          <a:xfrm>
            <a:off x="3246120" y="1005840"/>
            <a:ext cx="54864" cy="1719072"/>
          </a:xfrm>
          <a:prstGeom prst="roundRect">
            <a:avLst>
              <a:gd name="adj" fmla="val 50000"/>
            </a:avLst>
          </a:prstGeom>
          <a:solidFill>
            <a:srgbClr val="1976D2"/>
          </a:solidFill>
          <a:ln/>
        </p:spPr>
      </p:sp>
      <p:sp>
        <p:nvSpPr>
          <p:cNvPr id="15" name="Shape 13"/>
          <p:cNvSpPr/>
          <p:nvPr/>
        </p:nvSpPr>
        <p:spPr>
          <a:xfrm>
            <a:off x="3410712" y="1188720"/>
            <a:ext cx="621792" cy="621792"/>
          </a:xfrm>
          <a:prstGeom prst="ellipse">
            <a:avLst/>
          </a:prstGeom>
          <a:solidFill>
            <a:srgbClr val="1976D2">
              <a:alpha val="85000"/>
            </a:srgbClr>
          </a:solidFill>
          <a:ln/>
        </p:spPr>
      </p:sp>
      <p:sp>
        <p:nvSpPr>
          <p:cNvPr id="16" name="Text 14"/>
          <p:cNvSpPr/>
          <p:nvPr/>
        </p:nvSpPr>
        <p:spPr>
          <a:xfrm>
            <a:off x="3410712" y="1188720"/>
            <a:ext cx="621792" cy="621792"/>
          </a:xfrm>
          <a:prstGeom prst="rect">
            <a:avLst/>
          </a:prstGeom>
          <a:noFill/>
          <a:ln/>
        </p:spPr>
        <p:txBody>
          <a:bodyPr wrap="square" lIns="0" tIns="0" rIns="0" bIns="0" rtlCol="0" anchor="ctr"/>
          <a:lstStyle/>
          <a:p>
            <a:pPr algn="ctr" indent="0" marL="0">
              <a:buNone/>
            </a:pPr>
            <a:r>
              <a:rPr lang="en-US" sz="2300" dirty="0">
                <a:solidFill>
                  <a:srgbClr val="000000"/>
                </a:solidFill>
              </a:rPr>
              <a:t>🤖</a:t>
            </a:r>
            <a:endParaRPr lang="en-US" sz="2300" dirty="0"/>
          </a:p>
        </p:txBody>
      </p:sp>
      <p:sp>
        <p:nvSpPr>
          <p:cNvPr id="17" name="Text 15"/>
          <p:cNvSpPr/>
          <p:nvPr/>
        </p:nvSpPr>
        <p:spPr>
          <a:xfrm>
            <a:off x="4178808" y="1207008"/>
            <a:ext cx="1691640" cy="475488"/>
          </a:xfrm>
          <a:prstGeom prst="rect">
            <a:avLst/>
          </a:prstGeom>
          <a:noFill/>
          <a:ln/>
        </p:spPr>
        <p:txBody>
          <a:bodyPr wrap="square" lIns="0" tIns="0" rIns="0" bIns="0" rtlCol="0" anchor="ctr"/>
          <a:lstStyle/>
          <a:p>
            <a:pPr indent="0" marL="0">
              <a:buNone/>
            </a:pPr>
            <a:r>
              <a:rPr lang="en-US" sz="1150" b="1" dirty="0">
                <a:solidFill>
                  <a:srgbClr val="1976D2"/>
                </a:solidFill>
                <a:latin typeface="Calibri" pitchFamily="34" charset="0"/>
                <a:ea typeface="Calibri" pitchFamily="34" charset="-122"/>
                <a:cs typeface="Calibri" pitchFamily="34" charset="-120"/>
              </a:rPr>
              <a:t>Auto Attendance</a:t>
            </a:r>
            <a:endParaRPr lang="en-US" sz="1150" dirty="0"/>
          </a:p>
        </p:txBody>
      </p:sp>
      <p:sp>
        <p:nvSpPr>
          <p:cNvPr id="18" name="Text 16"/>
          <p:cNvSpPr/>
          <p:nvPr/>
        </p:nvSpPr>
        <p:spPr>
          <a:xfrm>
            <a:off x="3410712" y="1993392"/>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System marks attendance automatically — zero manual intervention required.</a:t>
            </a:r>
            <a:endParaRPr lang="en-US" sz="950" dirty="0"/>
          </a:p>
        </p:txBody>
      </p:sp>
      <p:sp>
        <p:nvSpPr>
          <p:cNvPr id="19" name="Shape 17"/>
          <p:cNvSpPr/>
          <p:nvPr/>
        </p:nvSpPr>
        <p:spPr>
          <a:xfrm>
            <a:off x="6172200" y="1005840"/>
            <a:ext cx="2743200" cy="1719072"/>
          </a:xfrm>
          <a:prstGeom prst="roundRect">
            <a:avLst>
              <a:gd name="adj" fmla="val 6383"/>
            </a:avLst>
          </a:prstGeom>
          <a:solidFill>
            <a:srgbClr val="1E293B"/>
          </a:solidFill>
          <a:ln/>
          <a:effectLst>
            <a:outerShdw sx="100000" sy="100000" kx="0" ky="0" algn="bl" rotWithShape="0" blurRad="127000" dist="50800" dir="2700000">
              <a:srgbClr val="000000">
                <a:alpha val="35000"/>
              </a:srgbClr>
            </a:outerShdw>
          </a:effectLst>
        </p:spPr>
      </p:sp>
      <p:sp>
        <p:nvSpPr>
          <p:cNvPr id="20" name="Shape 18"/>
          <p:cNvSpPr/>
          <p:nvPr/>
        </p:nvSpPr>
        <p:spPr>
          <a:xfrm>
            <a:off x="6172200" y="1005840"/>
            <a:ext cx="54864" cy="1719072"/>
          </a:xfrm>
          <a:prstGeom prst="roundRect">
            <a:avLst>
              <a:gd name="adj" fmla="val 50000"/>
            </a:avLst>
          </a:prstGeom>
          <a:solidFill>
            <a:srgbClr val="10B981"/>
          </a:solidFill>
          <a:ln/>
        </p:spPr>
      </p:sp>
      <p:sp>
        <p:nvSpPr>
          <p:cNvPr id="21" name="Shape 19"/>
          <p:cNvSpPr/>
          <p:nvPr/>
        </p:nvSpPr>
        <p:spPr>
          <a:xfrm>
            <a:off x="6336792" y="1188720"/>
            <a:ext cx="621792" cy="621792"/>
          </a:xfrm>
          <a:prstGeom prst="ellipse">
            <a:avLst/>
          </a:prstGeom>
          <a:solidFill>
            <a:srgbClr val="10B981">
              <a:alpha val="85000"/>
            </a:srgbClr>
          </a:solidFill>
          <a:ln/>
        </p:spPr>
      </p:sp>
      <p:sp>
        <p:nvSpPr>
          <p:cNvPr id="22" name="Text 20"/>
          <p:cNvSpPr/>
          <p:nvPr/>
        </p:nvSpPr>
        <p:spPr>
          <a:xfrm>
            <a:off x="6336792" y="1188720"/>
            <a:ext cx="621792" cy="621792"/>
          </a:xfrm>
          <a:prstGeom prst="rect">
            <a:avLst/>
          </a:prstGeom>
          <a:noFill/>
          <a:ln/>
        </p:spPr>
        <p:txBody>
          <a:bodyPr wrap="square" lIns="0" tIns="0" rIns="0" bIns="0" rtlCol="0" anchor="ctr"/>
          <a:lstStyle/>
          <a:p>
            <a:pPr algn="ctr" indent="0" marL="0">
              <a:buNone/>
            </a:pPr>
            <a:r>
              <a:rPr lang="en-US" sz="2300" dirty="0">
                <a:solidFill>
                  <a:srgbClr val="000000"/>
                </a:solidFill>
              </a:rPr>
              <a:t>🎯</a:t>
            </a:r>
            <a:endParaRPr lang="en-US" sz="2300" dirty="0"/>
          </a:p>
        </p:txBody>
      </p:sp>
      <p:sp>
        <p:nvSpPr>
          <p:cNvPr id="23" name="Text 21"/>
          <p:cNvSpPr/>
          <p:nvPr/>
        </p:nvSpPr>
        <p:spPr>
          <a:xfrm>
            <a:off x="7104888" y="1207008"/>
            <a:ext cx="1691640" cy="47548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High Accuracy</a:t>
            </a:r>
            <a:endParaRPr lang="en-US" sz="1150" dirty="0"/>
          </a:p>
        </p:txBody>
      </p:sp>
      <p:sp>
        <p:nvSpPr>
          <p:cNvPr id="24" name="Text 22"/>
          <p:cNvSpPr/>
          <p:nvPr/>
        </p:nvSpPr>
        <p:spPr>
          <a:xfrm>
            <a:off x="6336792" y="1993392"/>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128D embeddings with cosine similarity ensure precise identity matching.</a:t>
            </a:r>
            <a:endParaRPr lang="en-US" sz="950" dirty="0"/>
          </a:p>
        </p:txBody>
      </p:sp>
      <p:sp>
        <p:nvSpPr>
          <p:cNvPr id="25" name="Shape 23"/>
          <p:cNvSpPr/>
          <p:nvPr/>
        </p:nvSpPr>
        <p:spPr>
          <a:xfrm>
            <a:off x="320040" y="2926080"/>
            <a:ext cx="2743200" cy="1719072"/>
          </a:xfrm>
          <a:prstGeom prst="roundRect">
            <a:avLst>
              <a:gd name="adj" fmla="val 6383"/>
            </a:avLst>
          </a:prstGeom>
          <a:solidFill>
            <a:srgbClr val="1E293B"/>
          </a:solidFill>
          <a:ln/>
          <a:effectLst>
            <a:outerShdw sx="100000" sy="100000" kx="0" ky="0" algn="bl" rotWithShape="0" blurRad="127000" dist="50800" dir="2700000">
              <a:srgbClr val="000000">
                <a:alpha val="35000"/>
              </a:srgbClr>
            </a:outerShdw>
          </a:effectLst>
        </p:spPr>
      </p:sp>
      <p:sp>
        <p:nvSpPr>
          <p:cNvPr id="26" name="Shape 24"/>
          <p:cNvSpPr/>
          <p:nvPr/>
        </p:nvSpPr>
        <p:spPr>
          <a:xfrm>
            <a:off x="320040" y="2926080"/>
            <a:ext cx="54864" cy="1719072"/>
          </a:xfrm>
          <a:prstGeom prst="roundRect">
            <a:avLst>
              <a:gd name="adj" fmla="val 50000"/>
            </a:avLst>
          </a:prstGeom>
          <a:solidFill>
            <a:srgbClr val="F59E0B"/>
          </a:solidFill>
          <a:ln/>
        </p:spPr>
      </p:sp>
      <p:sp>
        <p:nvSpPr>
          <p:cNvPr id="27" name="Shape 25"/>
          <p:cNvSpPr/>
          <p:nvPr/>
        </p:nvSpPr>
        <p:spPr>
          <a:xfrm>
            <a:off x="484632" y="3108960"/>
            <a:ext cx="621792" cy="621792"/>
          </a:xfrm>
          <a:prstGeom prst="ellipse">
            <a:avLst/>
          </a:prstGeom>
          <a:solidFill>
            <a:srgbClr val="F59E0B">
              <a:alpha val="85000"/>
            </a:srgbClr>
          </a:solidFill>
          <a:ln/>
        </p:spPr>
      </p:sp>
      <p:sp>
        <p:nvSpPr>
          <p:cNvPr id="28" name="Text 26"/>
          <p:cNvSpPr/>
          <p:nvPr/>
        </p:nvSpPr>
        <p:spPr>
          <a:xfrm>
            <a:off x="484632" y="3108960"/>
            <a:ext cx="621792" cy="621792"/>
          </a:xfrm>
          <a:prstGeom prst="rect">
            <a:avLst/>
          </a:prstGeom>
          <a:noFill/>
          <a:ln/>
        </p:spPr>
        <p:txBody>
          <a:bodyPr wrap="square" lIns="0" tIns="0" rIns="0" bIns="0" rtlCol="0" anchor="ctr"/>
          <a:lstStyle/>
          <a:p>
            <a:pPr algn="ctr" indent="0" marL="0">
              <a:buNone/>
            </a:pPr>
            <a:r>
              <a:rPr lang="en-US" sz="2300" dirty="0">
                <a:solidFill>
                  <a:srgbClr val="000000"/>
                </a:solidFill>
              </a:rPr>
              <a:t>🌓</a:t>
            </a:r>
            <a:endParaRPr lang="en-US" sz="2300" dirty="0"/>
          </a:p>
        </p:txBody>
      </p:sp>
      <p:sp>
        <p:nvSpPr>
          <p:cNvPr id="29" name="Text 27"/>
          <p:cNvSpPr/>
          <p:nvPr/>
        </p:nvSpPr>
        <p:spPr>
          <a:xfrm>
            <a:off x="1252728" y="3127248"/>
            <a:ext cx="1691640" cy="475488"/>
          </a:xfrm>
          <a:prstGeom prst="rect">
            <a:avLst/>
          </a:prstGeom>
          <a:noFill/>
          <a:ln/>
        </p:spPr>
        <p:txBody>
          <a:bodyPr wrap="square" lIns="0" tIns="0" rIns="0" bIns="0" rtlCol="0" anchor="ctr"/>
          <a:lstStyle/>
          <a:p>
            <a:pPr indent="0" marL="0">
              <a:buNone/>
            </a:pPr>
            <a:r>
              <a:rPr lang="en-US" sz="1150" b="1" dirty="0">
                <a:solidFill>
                  <a:srgbClr val="F59E0B"/>
                </a:solidFill>
                <a:latin typeface="Calibri" pitchFamily="34" charset="0"/>
                <a:ea typeface="Calibri" pitchFamily="34" charset="-122"/>
                <a:cs typeface="Calibri" pitchFamily="34" charset="-120"/>
              </a:rPr>
              <a:t>Dark / Light Dashboard</a:t>
            </a:r>
            <a:endParaRPr lang="en-US" sz="1150" dirty="0"/>
          </a:p>
        </p:txBody>
      </p:sp>
      <p:sp>
        <p:nvSpPr>
          <p:cNvPr id="30" name="Text 28"/>
          <p:cNvSpPr/>
          <p:nvPr/>
        </p:nvSpPr>
        <p:spPr>
          <a:xfrm>
            <a:off x="484632" y="3913632"/>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Toggle between dark and light mode on the modern Tkinter AI dashboard.</a:t>
            </a:r>
            <a:endParaRPr lang="en-US" sz="950" dirty="0"/>
          </a:p>
        </p:txBody>
      </p:sp>
      <p:sp>
        <p:nvSpPr>
          <p:cNvPr id="31" name="Shape 29"/>
          <p:cNvSpPr/>
          <p:nvPr/>
        </p:nvSpPr>
        <p:spPr>
          <a:xfrm>
            <a:off x="3246120" y="2926080"/>
            <a:ext cx="2743200" cy="1719072"/>
          </a:xfrm>
          <a:prstGeom prst="roundRect">
            <a:avLst>
              <a:gd name="adj" fmla="val 6383"/>
            </a:avLst>
          </a:prstGeom>
          <a:solidFill>
            <a:srgbClr val="1E293B"/>
          </a:solidFill>
          <a:ln/>
          <a:effectLst>
            <a:outerShdw sx="100000" sy="100000" kx="0" ky="0" algn="bl" rotWithShape="0" blurRad="127000" dist="50800" dir="2700000">
              <a:srgbClr val="000000">
                <a:alpha val="35000"/>
              </a:srgbClr>
            </a:outerShdw>
          </a:effectLst>
        </p:spPr>
      </p:sp>
      <p:sp>
        <p:nvSpPr>
          <p:cNvPr id="32" name="Shape 30"/>
          <p:cNvSpPr/>
          <p:nvPr/>
        </p:nvSpPr>
        <p:spPr>
          <a:xfrm>
            <a:off x="3246120" y="2926080"/>
            <a:ext cx="54864" cy="1719072"/>
          </a:xfrm>
          <a:prstGeom prst="roundRect">
            <a:avLst>
              <a:gd name="adj" fmla="val 50000"/>
            </a:avLst>
          </a:prstGeom>
          <a:solidFill>
            <a:srgbClr val="818CF8"/>
          </a:solidFill>
          <a:ln/>
        </p:spPr>
      </p:sp>
      <p:sp>
        <p:nvSpPr>
          <p:cNvPr id="33" name="Shape 31"/>
          <p:cNvSpPr/>
          <p:nvPr/>
        </p:nvSpPr>
        <p:spPr>
          <a:xfrm>
            <a:off x="3410712" y="3108960"/>
            <a:ext cx="621792" cy="621792"/>
          </a:xfrm>
          <a:prstGeom prst="ellipse">
            <a:avLst/>
          </a:prstGeom>
          <a:solidFill>
            <a:srgbClr val="818CF8">
              <a:alpha val="85000"/>
            </a:srgbClr>
          </a:solidFill>
          <a:ln/>
        </p:spPr>
      </p:sp>
      <p:sp>
        <p:nvSpPr>
          <p:cNvPr id="34" name="Text 32"/>
          <p:cNvSpPr/>
          <p:nvPr/>
        </p:nvSpPr>
        <p:spPr>
          <a:xfrm>
            <a:off x="3410712" y="3108960"/>
            <a:ext cx="621792" cy="621792"/>
          </a:xfrm>
          <a:prstGeom prst="rect">
            <a:avLst/>
          </a:prstGeom>
          <a:noFill/>
          <a:ln/>
        </p:spPr>
        <p:txBody>
          <a:bodyPr wrap="square" lIns="0" tIns="0" rIns="0" bIns="0" rtlCol="0" anchor="ctr"/>
          <a:lstStyle/>
          <a:p>
            <a:pPr algn="ctr" indent="0" marL="0">
              <a:buNone/>
            </a:pPr>
            <a:r>
              <a:rPr lang="en-US" sz="2300" dirty="0">
                <a:solidFill>
                  <a:srgbClr val="000000"/>
                </a:solidFill>
              </a:rPr>
              <a:t>📂</a:t>
            </a:r>
            <a:endParaRPr lang="en-US" sz="2300" dirty="0"/>
          </a:p>
        </p:txBody>
      </p:sp>
      <p:sp>
        <p:nvSpPr>
          <p:cNvPr id="35" name="Text 33"/>
          <p:cNvSpPr/>
          <p:nvPr/>
        </p:nvSpPr>
        <p:spPr>
          <a:xfrm>
            <a:off x="4178808" y="3127248"/>
            <a:ext cx="1691640" cy="475488"/>
          </a:xfrm>
          <a:prstGeom prst="rect">
            <a:avLst/>
          </a:prstGeom>
          <a:noFill/>
          <a:ln/>
        </p:spPr>
        <p:txBody>
          <a:bodyPr wrap="square" lIns="0" tIns="0" rIns="0" bIns="0" rtlCol="0" anchor="ctr"/>
          <a:lstStyle/>
          <a:p>
            <a:pPr indent="0" marL="0">
              <a:buNone/>
            </a:pPr>
            <a:r>
              <a:rPr lang="en-US" sz="1150" b="1" dirty="0">
                <a:solidFill>
                  <a:srgbClr val="818CF8"/>
                </a:solidFill>
                <a:latin typeface="Calibri" pitchFamily="34" charset="0"/>
                <a:ea typeface="Calibri" pitchFamily="34" charset="-122"/>
                <a:cs typeface="Calibri" pitchFamily="34" charset="-120"/>
              </a:rPr>
              <a:t>Digital Records</a:t>
            </a:r>
            <a:endParaRPr lang="en-US" sz="1150" dirty="0"/>
          </a:p>
        </p:txBody>
      </p:sp>
      <p:sp>
        <p:nvSpPr>
          <p:cNvPr id="36" name="Text 34"/>
          <p:cNvSpPr/>
          <p:nvPr/>
        </p:nvSpPr>
        <p:spPr>
          <a:xfrm>
            <a:off x="3410712" y="3913632"/>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All data persisted in SQLite and exportable to CSV with one click.</a:t>
            </a:r>
            <a:endParaRPr lang="en-US" sz="950" dirty="0"/>
          </a:p>
        </p:txBody>
      </p:sp>
      <p:sp>
        <p:nvSpPr>
          <p:cNvPr id="37" name="Shape 35"/>
          <p:cNvSpPr/>
          <p:nvPr/>
        </p:nvSpPr>
        <p:spPr>
          <a:xfrm>
            <a:off x="6172200" y="2926080"/>
            <a:ext cx="2743200" cy="1719072"/>
          </a:xfrm>
          <a:prstGeom prst="roundRect">
            <a:avLst>
              <a:gd name="adj" fmla="val 6383"/>
            </a:avLst>
          </a:prstGeom>
          <a:solidFill>
            <a:srgbClr val="1E293B"/>
          </a:solidFill>
          <a:ln/>
          <a:effectLst>
            <a:outerShdw sx="100000" sy="100000" kx="0" ky="0" algn="bl" rotWithShape="0" blurRad="127000" dist="50800" dir="2700000">
              <a:srgbClr val="000000">
                <a:alpha val="35000"/>
              </a:srgbClr>
            </a:outerShdw>
          </a:effectLst>
        </p:spPr>
      </p:sp>
      <p:sp>
        <p:nvSpPr>
          <p:cNvPr id="38" name="Shape 36"/>
          <p:cNvSpPr/>
          <p:nvPr/>
        </p:nvSpPr>
        <p:spPr>
          <a:xfrm>
            <a:off x="6172200" y="2926080"/>
            <a:ext cx="54864" cy="1719072"/>
          </a:xfrm>
          <a:prstGeom prst="roundRect">
            <a:avLst>
              <a:gd name="adj" fmla="val 50000"/>
            </a:avLst>
          </a:prstGeom>
          <a:solidFill>
            <a:srgbClr val="EF4444"/>
          </a:solidFill>
          <a:ln/>
        </p:spPr>
      </p:sp>
      <p:sp>
        <p:nvSpPr>
          <p:cNvPr id="39" name="Shape 37"/>
          <p:cNvSpPr/>
          <p:nvPr/>
        </p:nvSpPr>
        <p:spPr>
          <a:xfrm>
            <a:off x="6336792" y="3108960"/>
            <a:ext cx="621792" cy="621792"/>
          </a:xfrm>
          <a:prstGeom prst="ellipse">
            <a:avLst/>
          </a:prstGeom>
          <a:solidFill>
            <a:srgbClr val="EF4444">
              <a:alpha val="85000"/>
            </a:srgbClr>
          </a:solidFill>
          <a:ln/>
        </p:spPr>
      </p:sp>
      <p:sp>
        <p:nvSpPr>
          <p:cNvPr id="40" name="Text 38"/>
          <p:cNvSpPr/>
          <p:nvPr/>
        </p:nvSpPr>
        <p:spPr>
          <a:xfrm>
            <a:off x="6336792" y="3108960"/>
            <a:ext cx="621792" cy="621792"/>
          </a:xfrm>
          <a:prstGeom prst="rect">
            <a:avLst/>
          </a:prstGeom>
          <a:noFill/>
          <a:ln/>
        </p:spPr>
        <p:txBody>
          <a:bodyPr wrap="square" lIns="0" tIns="0" rIns="0" bIns="0" rtlCol="0" anchor="ctr"/>
          <a:lstStyle/>
          <a:p>
            <a:pPr algn="ctr" indent="0" marL="0">
              <a:buNone/>
            </a:pPr>
            <a:r>
              <a:rPr lang="en-US" sz="2300" dirty="0">
                <a:solidFill>
                  <a:srgbClr val="000000"/>
                </a:solidFill>
              </a:rPr>
              <a:t>🛡</a:t>
            </a:r>
            <a:endParaRPr lang="en-US" sz="2300" dirty="0"/>
          </a:p>
        </p:txBody>
      </p:sp>
      <p:sp>
        <p:nvSpPr>
          <p:cNvPr id="41" name="Text 39"/>
          <p:cNvSpPr/>
          <p:nvPr/>
        </p:nvSpPr>
        <p:spPr>
          <a:xfrm>
            <a:off x="7104888" y="3127248"/>
            <a:ext cx="1691640" cy="475488"/>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Anti-Proxy Protection</a:t>
            </a:r>
            <a:endParaRPr lang="en-US" sz="1150" dirty="0"/>
          </a:p>
        </p:txBody>
      </p:sp>
      <p:sp>
        <p:nvSpPr>
          <p:cNvPr id="42" name="Text 40"/>
          <p:cNvSpPr/>
          <p:nvPr/>
        </p:nvSpPr>
        <p:spPr>
          <a:xfrm>
            <a:off x="6336792" y="3913632"/>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Live face verification prevents any form of proxy or fake attendance.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00B4D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09  APP SCREENSHOTS</a:t>
            </a:r>
            <a:endParaRPr lang="en-US" sz="2600" dirty="0"/>
          </a:p>
        </p:txBody>
      </p:sp>
      <p:sp>
        <p:nvSpPr>
          <p:cNvPr id="5" name="Shape 3"/>
          <p:cNvSpPr/>
          <p:nvPr/>
        </p:nvSpPr>
        <p:spPr>
          <a:xfrm>
            <a:off x="0" y="850392"/>
            <a:ext cx="9144000" cy="36576"/>
          </a:xfrm>
          <a:prstGeom prst="rect">
            <a:avLst/>
          </a:prstGeom>
          <a:solidFill>
            <a:srgbClr val="00B4D8">
              <a:alpha val="40000"/>
            </a:srgbClr>
          </a:solidFill>
          <a:ln/>
        </p:spPr>
      </p:sp>
      <p:sp>
        <p:nvSpPr>
          <p:cNvPr id="6" name="Shape 4"/>
          <p:cNvSpPr/>
          <p:nvPr/>
        </p:nvSpPr>
        <p:spPr>
          <a:xfrm>
            <a:off x="8732520" y="201168"/>
            <a:ext cx="256032" cy="256032"/>
          </a:xfrm>
          <a:prstGeom prst="ellipse">
            <a:avLst/>
          </a:prstGeom>
          <a:solidFill>
            <a:srgbClr val="00B4D8">
              <a:alpha val="70000"/>
            </a:srgbClr>
          </a:solidFill>
          <a:ln/>
        </p:spPr>
      </p:sp>
      <p:sp>
        <p:nvSpPr>
          <p:cNvPr id="7" name="Text 5"/>
          <p:cNvSpPr/>
          <p:nvPr/>
        </p:nvSpPr>
        <p:spPr>
          <a:xfrm>
            <a:off x="365760" y="960120"/>
            <a:ext cx="8412480" cy="32004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Real screenshots from the working application</a:t>
            </a:r>
            <a:endParaRPr lang="en-US" sz="1200" dirty="0"/>
          </a:p>
        </p:txBody>
      </p:sp>
      <p:pic>
        <p:nvPicPr>
          <p:cNvPr id="8" name="Image 0" descr="preencoded.png">    </p:cNvPr>
          <p:cNvPicPr>
            <a:picLocks noChangeAspect="1"/>
          </p:cNvPicPr>
          <p:nvPr/>
        </p:nvPicPr>
        <p:blipFill>
          <a:blip r:embed="rId1"/>
          <a:stretch>
            <a:fillRect/>
          </a:stretch>
        </p:blipFill>
        <p:spPr>
          <a:xfrm>
            <a:off x="365760" y="1371600"/>
            <a:ext cx="5120640" cy="3063240"/>
          </a:xfrm>
          <a:prstGeom prst="rect">
            <a:avLst/>
          </a:prstGeom>
        </p:spPr>
      </p:pic>
      <p:sp>
        <p:nvSpPr>
          <p:cNvPr id="9" name="Shape 6"/>
          <p:cNvSpPr/>
          <p:nvPr/>
        </p:nvSpPr>
        <p:spPr>
          <a:xfrm>
            <a:off x="365760" y="1371600"/>
            <a:ext cx="5120640" cy="3063240"/>
          </a:xfrm>
          <a:prstGeom prst="roundRect">
            <a:avLst>
              <a:gd name="adj" fmla="val 3582"/>
            </a:avLst>
          </a:prstGeom>
          <a:solidFill>
            <a:srgbClr val="1E293B"/>
          </a:solidFill>
          <a:ln/>
          <a:effectLst>
            <a:outerShdw sx="100000" sy="100000" kx="0" ky="0" algn="bl" rotWithShape="0" blurRad="127000" dist="50800" dir="2700000">
              <a:srgbClr val="000000">
                <a:alpha val="35000"/>
              </a:srgbClr>
            </a:outerShdw>
          </a:effectLst>
        </p:spPr>
      </p:sp>
      <p:sp>
        <p:nvSpPr>
          <p:cNvPr id="10" name="Shape 7"/>
          <p:cNvSpPr/>
          <p:nvPr/>
        </p:nvSpPr>
        <p:spPr>
          <a:xfrm>
            <a:off x="365760" y="1371600"/>
            <a:ext cx="5120640" cy="3063240"/>
          </a:xfrm>
          <a:prstGeom prst="roundRect">
            <a:avLst>
              <a:gd name="adj" fmla="val 2985"/>
            </a:avLst>
          </a:prstGeom>
          <a:solidFill>
            <a:srgbClr val="FFFFFF">
              <a:alpha val="0"/>
            </a:srgbClr>
          </a:solidFill>
          <a:ln w="25400">
            <a:solidFill>
              <a:srgbClr val="00B4D8"/>
            </a:solidFill>
            <a:prstDash val="solid"/>
          </a:ln>
        </p:spPr>
      </p:sp>
      <p:sp>
        <p:nvSpPr>
          <p:cNvPr id="11" name="Shape 8"/>
          <p:cNvSpPr/>
          <p:nvPr/>
        </p:nvSpPr>
        <p:spPr>
          <a:xfrm>
            <a:off x="411480" y="1417320"/>
            <a:ext cx="2011680" cy="292608"/>
          </a:xfrm>
          <a:prstGeom prst="roundRect">
            <a:avLst>
              <a:gd name="adj" fmla="val 18750"/>
            </a:avLst>
          </a:prstGeom>
          <a:solidFill>
            <a:srgbClr val="00B4D8"/>
          </a:solidFill>
          <a:ln/>
        </p:spPr>
      </p:sp>
      <p:sp>
        <p:nvSpPr>
          <p:cNvPr id="12" name="Text 9"/>
          <p:cNvSpPr/>
          <p:nvPr/>
        </p:nvSpPr>
        <p:spPr>
          <a:xfrm>
            <a:off x="411480" y="1417320"/>
            <a:ext cx="2011680" cy="292608"/>
          </a:xfrm>
          <a:prstGeom prst="rect">
            <a:avLst/>
          </a:prstGeom>
          <a:noFill/>
          <a:ln/>
        </p:spPr>
        <p:txBody>
          <a:bodyPr wrap="square" lIns="0" tIns="0" rIns="0" bIns="0" rtlCol="0" anchor="ctr"/>
          <a:lstStyle/>
          <a:p>
            <a:pPr algn="ctr" indent="0" marL="0">
              <a:buNone/>
            </a:pPr>
            <a:r>
              <a:rPr lang="en-US" sz="800" b="1" dirty="0">
                <a:solidFill>
                  <a:srgbClr val="0A0E27"/>
                </a:solidFill>
              </a:rPr>
              <a:t>Main Dashboard (Dark Mode)</a:t>
            </a:r>
            <a:endParaRPr lang="en-US" sz="800" dirty="0"/>
          </a:p>
        </p:txBody>
      </p:sp>
      <p:sp>
        <p:nvSpPr>
          <p:cNvPr id="13" name="Shape 10"/>
          <p:cNvSpPr/>
          <p:nvPr/>
        </p:nvSpPr>
        <p:spPr>
          <a:xfrm>
            <a:off x="5559552" y="1472184"/>
            <a:ext cx="128016" cy="128016"/>
          </a:xfrm>
          <a:prstGeom prst="ellipse">
            <a:avLst/>
          </a:prstGeom>
          <a:solidFill>
            <a:srgbClr val="00B4D8"/>
          </a:solidFill>
          <a:ln/>
        </p:spPr>
      </p:sp>
      <p:sp>
        <p:nvSpPr>
          <p:cNvPr id="14" name="Text 11"/>
          <p:cNvSpPr/>
          <p:nvPr/>
        </p:nvSpPr>
        <p:spPr>
          <a:xfrm>
            <a:off x="5742432" y="1444752"/>
            <a:ext cx="3154680" cy="27432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Live clock &amp; theme toggle</a:t>
            </a:r>
            <a:endParaRPr lang="en-US" sz="950" dirty="0"/>
          </a:p>
        </p:txBody>
      </p:sp>
      <p:sp>
        <p:nvSpPr>
          <p:cNvPr id="15" name="Shape 12"/>
          <p:cNvSpPr/>
          <p:nvPr/>
        </p:nvSpPr>
        <p:spPr>
          <a:xfrm>
            <a:off x="5504688" y="1536192"/>
            <a:ext cx="54864" cy="0"/>
          </a:xfrm>
          <a:prstGeom prst="line">
            <a:avLst/>
          </a:prstGeom>
          <a:noFill/>
          <a:ln w="9525">
            <a:solidFill>
              <a:srgbClr val="00B4D8"/>
            </a:solidFill>
            <a:prstDash val="solid"/>
          </a:ln>
        </p:spPr>
      </p:sp>
      <p:sp>
        <p:nvSpPr>
          <p:cNvPr id="16" name="Shape 13"/>
          <p:cNvSpPr/>
          <p:nvPr/>
        </p:nvSpPr>
        <p:spPr>
          <a:xfrm>
            <a:off x="5559552" y="2020824"/>
            <a:ext cx="128016" cy="128016"/>
          </a:xfrm>
          <a:prstGeom prst="ellipse">
            <a:avLst/>
          </a:prstGeom>
          <a:solidFill>
            <a:srgbClr val="00B4D8"/>
          </a:solidFill>
          <a:ln/>
        </p:spPr>
      </p:sp>
      <p:sp>
        <p:nvSpPr>
          <p:cNvPr id="17" name="Text 14"/>
          <p:cNvSpPr/>
          <p:nvPr/>
        </p:nvSpPr>
        <p:spPr>
          <a:xfrm>
            <a:off x="5742432" y="1993392"/>
            <a:ext cx="3154680" cy="27432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Stats cards: Total / Present / Absent / Late</a:t>
            </a:r>
            <a:endParaRPr lang="en-US" sz="950" dirty="0"/>
          </a:p>
        </p:txBody>
      </p:sp>
      <p:sp>
        <p:nvSpPr>
          <p:cNvPr id="18" name="Shape 15"/>
          <p:cNvSpPr/>
          <p:nvPr/>
        </p:nvSpPr>
        <p:spPr>
          <a:xfrm>
            <a:off x="5504688" y="2084832"/>
            <a:ext cx="54864" cy="0"/>
          </a:xfrm>
          <a:prstGeom prst="line">
            <a:avLst/>
          </a:prstGeom>
          <a:noFill/>
          <a:ln w="9525">
            <a:solidFill>
              <a:srgbClr val="00B4D8"/>
            </a:solidFill>
            <a:prstDash val="solid"/>
          </a:ln>
        </p:spPr>
      </p:sp>
      <p:sp>
        <p:nvSpPr>
          <p:cNvPr id="19" name="Shape 16"/>
          <p:cNvSpPr/>
          <p:nvPr/>
        </p:nvSpPr>
        <p:spPr>
          <a:xfrm>
            <a:off x="5559552" y="2569464"/>
            <a:ext cx="128016" cy="128016"/>
          </a:xfrm>
          <a:prstGeom prst="ellipse">
            <a:avLst/>
          </a:prstGeom>
          <a:solidFill>
            <a:srgbClr val="00B4D8"/>
          </a:solidFill>
          <a:ln/>
        </p:spPr>
      </p:sp>
      <p:sp>
        <p:nvSpPr>
          <p:cNvPr id="20" name="Text 17"/>
          <p:cNvSpPr/>
          <p:nvPr/>
        </p:nvSpPr>
        <p:spPr>
          <a:xfrm>
            <a:off x="5742432" y="2542032"/>
            <a:ext cx="3154680" cy="27432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"HELP SATHI" sidebar navigation</a:t>
            </a:r>
            <a:endParaRPr lang="en-US" sz="950" dirty="0"/>
          </a:p>
        </p:txBody>
      </p:sp>
      <p:sp>
        <p:nvSpPr>
          <p:cNvPr id="21" name="Shape 18"/>
          <p:cNvSpPr/>
          <p:nvPr/>
        </p:nvSpPr>
        <p:spPr>
          <a:xfrm>
            <a:off x="5504688" y="2633472"/>
            <a:ext cx="54864" cy="0"/>
          </a:xfrm>
          <a:prstGeom prst="line">
            <a:avLst/>
          </a:prstGeom>
          <a:noFill/>
          <a:ln w="9525">
            <a:solidFill>
              <a:srgbClr val="00B4D8"/>
            </a:solidFill>
            <a:prstDash val="solid"/>
          </a:ln>
        </p:spPr>
      </p:sp>
      <p:sp>
        <p:nvSpPr>
          <p:cNvPr id="22" name="Shape 19"/>
          <p:cNvSpPr/>
          <p:nvPr/>
        </p:nvSpPr>
        <p:spPr>
          <a:xfrm>
            <a:off x="5559552" y="3118104"/>
            <a:ext cx="128016" cy="128016"/>
          </a:xfrm>
          <a:prstGeom prst="ellipse">
            <a:avLst/>
          </a:prstGeom>
          <a:solidFill>
            <a:srgbClr val="00B4D8"/>
          </a:solidFill>
          <a:ln/>
        </p:spPr>
      </p:sp>
      <p:sp>
        <p:nvSpPr>
          <p:cNvPr id="23" name="Text 20"/>
          <p:cNvSpPr/>
          <p:nvPr/>
        </p:nvSpPr>
        <p:spPr>
          <a:xfrm>
            <a:off x="5742432" y="3090672"/>
            <a:ext cx="3154680" cy="27432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System features overview panel</a:t>
            </a:r>
            <a:endParaRPr lang="en-US" sz="950" dirty="0"/>
          </a:p>
        </p:txBody>
      </p:sp>
      <p:sp>
        <p:nvSpPr>
          <p:cNvPr id="24" name="Shape 21"/>
          <p:cNvSpPr/>
          <p:nvPr/>
        </p:nvSpPr>
        <p:spPr>
          <a:xfrm>
            <a:off x="5504688" y="3182112"/>
            <a:ext cx="54864" cy="0"/>
          </a:xfrm>
          <a:prstGeom prst="line">
            <a:avLst/>
          </a:prstGeom>
          <a:noFill/>
          <a:ln w="9525">
            <a:solidFill>
              <a:srgbClr val="00B4D8"/>
            </a:solidFill>
            <a:prstDash val="solid"/>
          </a:ln>
        </p:spPr>
      </p:sp>
      <p:sp>
        <p:nvSpPr>
          <p:cNvPr id="25" name="Shape 22"/>
          <p:cNvSpPr/>
          <p:nvPr/>
        </p:nvSpPr>
        <p:spPr>
          <a:xfrm>
            <a:off x="5559552" y="3666744"/>
            <a:ext cx="128016" cy="128016"/>
          </a:xfrm>
          <a:prstGeom prst="ellipse">
            <a:avLst/>
          </a:prstGeom>
          <a:solidFill>
            <a:srgbClr val="00B4D8"/>
          </a:solidFill>
          <a:ln/>
        </p:spPr>
      </p:sp>
      <p:sp>
        <p:nvSpPr>
          <p:cNvPr id="26" name="Text 23"/>
          <p:cNvSpPr/>
          <p:nvPr/>
        </p:nvSpPr>
        <p:spPr>
          <a:xfrm>
            <a:off x="5742432" y="3639312"/>
            <a:ext cx="3154680" cy="27432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"Developed By Shreyas Goyal" credit</a:t>
            </a:r>
            <a:endParaRPr lang="en-US" sz="950" dirty="0"/>
          </a:p>
        </p:txBody>
      </p:sp>
      <p:sp>
        <p:nvSpPr>
          <p:cNvPr id="27" name="Shape 24"/>
          <p:cNvSpPr/>
          <p:nvPr/>
        </p:nvSpPr>
        <p:spPr>
          <a:xfrm>
            <a:off x="5504688" y="3730752"/>
            <a:ext cx="54864" cy="0"/>
          </a:xfrm>
          <a:prstGeom prst="line">
            <a:avLst/>
          </a:prstGeom>
          <a:noFill/>
          <a:ln w="9525">
            <a:solidFill>
              <a:srgbClr val="00B4D8"/>
            </a:solidFill>
            <a:prstDash val="solid"/>
          </a:ln>
        </p:spPr>
      </p:sp>
      <p:sp>
        <p:nvSpPr>
          <p:cNvPr id="28" name="Shape 25"/>
          <p:cNvSpPr/>
          <p:nvPr/>
        </p:nvSpPr>
        <p:spPr>
          <a:xfrm>
            <a:off x="5559552" y="4187952"/>
            <a:ext cx="128016" cy="128016"/>
          </a:xfrm>
          <a:prstGeom prst="ellipse">
            <a:avLst/>
          </a:prstGeom>
          <a:solidFill>
            <a:srgbClr val="00B4D8"/>
          </a:solidFill>
          <a:ln/>
        </p:spPr>
      </p:sp>
      <p:sp>
        <p:nvSpPr>
          <p:cNvPr id="29" name="Text 26"/>
          <p:cNvSpPr/>
          <p:nvPr/>
        </p:nvSpPr>
        <p:spPr>
          <a:xfrm>
            <a:off x="5742432" y="4160520"/>
            <a:ext cx="3154680" cy="274320"/>
          </a:xfrm>
          <a:prstGeom prst="rect">
            <a:avLst/>
          </a:prstGeom>
          <a:noFill/>
          <a:ln/>
        </p:spPr>
        <p:txBody>
          <a:bodyPr wrap="square" lIns="0" tIns="0" rIns="0" bIns="0" rtlCol="0" anchor="ctr"/>
          <a:lstStyle/>
          <a:p>
            <a:pPr indent="0" marL="0">
              <a:buNone/>
            </a:pPr>
            <a:r>
              <a:rPr lang="en-US" sz="950" dirty="0">
                <a:solidFill>
                  <a:srgbClr val="E3F2FD"/>
                </a:solidFill>
                <a:latin typeface="Calibri" pitchFamily="34" charset="0"/>
                <a:ea typeface="Calibri" pitchFamily="34" charset="-122"/>
                <a:cs typeface="Calibri" pitchFamily="34" charset="-120"/>
              </a:rPr>
              <a:t>DeepFace + OpenCV + SQLite stack</a:t>
            </a:r>
            <a:endParaRPr lang="en-US" sz="950" dirty="0"/>
          </a:p>
        </p:txBody>
      </p:sp>
      <p:sp>
        <p:nvSpPr>
          <p:cNvPr id="30" name="Shape 27"/>
          <p:cNvSpPr/>
          <p:nvPr/>
        </p:nvSpPr>
        <p:spPr>
          <a:xfrm>
            <a:off x="5504688" y="4251960"/>
            <a:ext cx="54864" cy="0"/>
          </a:xfrm>
          <a:prstGeom prst="line">
            <a:avLst/>
          </a:prstGeom>
          <a:noFill/>
          <a:ln w="9525">
            <a:solidFill>
              <a:srgbClr val="00B4D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818CF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10  ATTENDANCE MODULE</a:t>
            </a:r>
            <a:endParaRPr lang="en-US" sz="2600" dirty="0"/>
          </a:p>
        </p:txBody>
      </p:sp>
      <p:sp>
        <p:nvSpPr>
          <p:cNvPr id="5" name="Shape 3"/>
          <p:cNvSpPr/>
          <p:nvPr/>
        </p:nvSpPr>
        <p:spPr>
          <a:xfrm>
            <a:off x="0" y="850392"/>
            <a:ext cx="9144000" cy="36576"/>
          </a:xfrm>
          <a:prstGeom prst="rect">
            <a:avLst/>
          </a:prstGeom>
          <a:solidFill>
            <a:srgbClr val="818CF8">
              <a:alpha val="40000"/>
            </a:srgbClr>
          </a:solidFill>
          <a:ln/>
        </p:spPr>
      </p:sp>
      <p:sp>
        <p:nvSpPr>
          <p:cNvPr id="6" name="Shape 4"/>
          <p:cNvSpPr/>
          <p:nvPr/>
        </p:nvSpPr>
        <p:spPr>
          <a:xfrm>
            <a:off x="8732520" y="201168"/>
            <a:ext cx="256032" cy="256032"/>
          </a:xfrm>
          <a:prstGeom prst="ellipse">
            <a:avLst/>
          </a:prstGeom>
          <a:solidFill>
            <a:srgbClr val="818CF8">
              <a:alpha val="70000"/>
            </a:srgbClr>
          </a:solidFill>
          <a:ln/>
        </p:spPr>
      </p:sp>
      <p:sp>
        <p:nvSpPr>
          <p:cNvPr id="7" name="Text 5"/>
          <p:cNvSpPr/>
          <p:nvPr/>
        </p:nvSpPr>
        <p:spPr>
          <a:xfrm>
            <a:off x="365760" y="960120"/>
            <a:ext cx="8412480" cy="32004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Live screenshot of the Attendance System module in action</a:t>
            </a:r>
            <a:endParaRPr lang="en-US" sz="1200" dirty="0"/>
          </a:p>
        </p:txBody>
      </p:sp>
      <p:pic>
        <p:nvPicPr>
          <p:cNvPr id="8" name="Image 0" descr="preencoded.png">    </p:cNvPr>
          <p:cNvPicPr>
            <a:picLocks noChangeAspect="1"/>
          </p:cNvPicPr>
          <p:nvPr/>
        </p:nvPicPr>
        <p:blipFill>
          <a:blip r:embed="rId1"/>
          <a:stretch>
            <a:fillRect/>
          </a:stretch>
        </p:blipFill>
        <p:spPr>
          <a:xfrm>
            <a:off x="365760" y="1371600"/>
            <a:ext cx="5120640" cy="3749040"/>
          </a:xfrm>
          <a:prstGeom prst="rect">
            <a:avLst/>
          </a:prstGeom>
        </p:spPr>
      </p:pic>
      <p:sp>
        <p:nvSpPr>
          <p:cNvPr id="9" name="Shape 6"/>
          <p:cNvSpPr/>
          <p:nvPr/>
        </p:nvSpPr>
        <p:spPr>
          <a:xfrm>
            <a:off x="365760" y="1371600"/>
            <a:ext cx="5120640" cy="3749040"/>
          </a:xfrm>
          <a:prstGeom prst="roundRect">
            <a:avLst>
              <a:gd name="adj" fmla="val 2439"/>
            </a:avLst>
          </a:prstGeom>
          <a:solidFill>
            <a:srgbClr val="FFFFFF">
              <a:alpha val="0"/>
            </a:srgbClr>
          </a:solidFill>
          <a:ln w="25400">
            <a:solidFill>
              <a:srgbClr val="818CF8"/>
            </a:solidFill>
            <a:prstDash val="solid"/>
          </a:ln>
        </p:spPr>
      </p:sp>
      <p:sp>
        <p:nvSpPr>
          <p:cNvPr id="10" name="Shape 7"/>
          <p:cNvSpPr/>
          <p:nvPr/>
        </p:nvSpPr>
        <p:spPr>
          <a:xfrm>
            <a:off x="411480" y="1417320"/>
            <a:ext cx="2103120" cy="292608"/>
          </a:xfrm>
          <a:prstGeom prst="roundRect">
            <a:avLst>
              <a:gd name="adj" fmla="val 18750"/>
            </a:avLst>
          </a:prstGeom>
          <a:solidFill>
            <a:srgbClr val="818CF8"/>
          </a:solidFill>
          <a:ln/>
        </p:spPr>
      </p:sp>
      <p:sp>
        <p:nvSpPr>
          <p:cNvPr id="11" name="Text 8"/>
          <p:cNvSpPr/>
          <p:nvPr/>
        </p:nvSpPr>
        <p:spPr>
          <a:xfrm>
            <a:off x="411480" y="1417320"/>
            <a:ext cx="2103120" cy="292608"/>
          </a:xfrm>
          <a:prstGeom prst="rect">
            <a:avLst/>
          </a:prstGeom>
          <a:noFill/>
          <a:ln/>
        </p:spPr>
        <p:txBody>
          <a:bodyPr wrap="square" lIns="0" tIns="0" rIns="0" bIns="0" rtlCol="0" anchor="ctr"/>
          <a:lstStyle/>
          <a:p>
            <a:pPr algn="ctr" indent="0" marL="0">
              <a:buNone/>
            </a:pPr>
            <a:r>
              <a:rPr lang="en-US" sz="800" b="1" dirty="0">
                <a:solidFill>
                  <a:srgbClr val="FFFFFF"/>
                </a:solidFill>
              </a:rPr>
              <a:t>Attendance System Module</a:t>
            </a:r>
            <a:endParaRPr lang="en-US" sz="800" dirty="0"/>
          </a:p>
        </p:txBody>
      </p:sp>
      <p:sp>
        <p:nvSpPr>
          <p:cNvPr id="12" name="Shape 9"/>
          <p:cNvSpPr/>
          <p:nvPr/>
        </p:nvSpPr>
        <p:spPr>
          <a:xfrm>
            <a:off x="5623560" y="1353312"/>
            <a:ext cx="3246120" cy="822960"/>
          </a:xfrm>
          <a:prstGeom prst="roundRect">
            <a:avLst>
              <a:gd name="adj" fmla="val 13333"/>
            </a:avLst>
          </a:prstGeom>
          <a:solidFill>
            <a:srgbClr val="1E293B"/>
          </a:solidFill>
          <a:ln/>
          <a:effectLst>
            <a:outerShdw sx="100000" sy="100000" kx="0" ky="0" algn="bl" rotWithShape="0" blurRad="127000" dist="50800" dir="2700000">
              <a:srgbClr val="000000">
                <a:alpha val="35000"/>
              </a:srgbClr>
            </a:outerShdw>
          </a:effectLst>
        </p:spPr>
      </p:sp>
      <p:sp>
        <p:nvSpPr>
          <p:cNvPr id="13" name="Shape 10"/>
          <p:cNvSpPr/>
          <p:nvPr/>
        </p:nvSpPr>
        <p:spPr>
          <a:xfrm>
            <a:off x="5623560" y="1353312"/>
            <a:ext cx="54864" cy="822960"/>
          </a:xfrm>
          <a:prstGeom prst="roundRect">
            <a:avLst>
              <a:gd name="adj" fmla="val 50000"/>
            </a:avLst>
          </a:prstGeom>
          <a:solidFill>
            <a:srgbClr val="F59E0B"/>
          </a:solidFill>
          <a:ln/>
        </p:spPr>
      </p:sp>
      <p:sp>
        <p:nvSpPr>
          <p:cNvPr id="14" name="Shape 11"/>
          <p:cNvSpPr/>
          <p:nvPr/>
        </p:nvSpPr>
        <p:spPr>
          <a:xfrm>
            <a:off x="5760720" y="1463040"/>
            <a:ext cx="502920" cy="502920"/>
          </a:xfrm>
          <a:prstGeom prst="ellipse">
            <a:avLst/>
          </a:prstGeom>
          <a:solidFill>
            <a:srgbClr val="F59E0B">
              <a:alpha val="80000"/>
            </a:srgbClr>
          </a:solidFill>
          <a:ln/>
        </p:spPr>
      </p:sp>
      <p:sp>
        <p:nvSpPr>
          <p:cNvPr id="15" name="Text 12"/>
          <p:cNvSpPr/>
          <p:nvPr/>
        </p:nvSpPr>
        <p:spPr>
          <a:xfrm>
            <a:off x="5760720" y="146304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3"/>
          <p:cNvSpPr/>
          <p:nvPr/>
        </p:nvSpPr>
        <p:spPr>
          <a:xfrm>
            <a:off x="6400800" y="1426464"/>
            <a:ext cx="233172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Closing Time Input</a:t>
            </a:r>
            <a:endParaRPr lang="en-US" sz="1100" dirty="0"/>
          </a:p>
        </p:txBody>
      </p:sp>
      <p:sp>
        <p:nvSpPr>
          <p:cNvPr id="17" name="Text 14"/>
          <p:cNvSpPr/>
          <p:nvPr/>
        </p:nvSpPr>
        <p:spPr>
          <a:xfrm>
            <a:off x="6400800" y="1737360"/>
            <a:ext cx="233172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Faculty sets the cutoff time. Late arrivals auto-tagged as "Late" status.</a:t>
            </a:r>
            <a:endParaRPr lang="en-US" sz="900" dirty="0"/>
          </a:p>
        </p:txBody>
      </p:sp>
      <p:sp>
        <p:nvSpPr>
          <p:cNvPr id="18" name="Shape 15"/>
          <p:cNvSpPr/>
          <p:nvPr/>
        </p:nvSpPr>
        <p:spPr>
          <a:xfrm>
            <a:off x="5623560" y="2313432"/>
            <a:ext cx="3246120" cy="822960"/>
          </a:xfrm>
          <a:prstGeom prst="roundRect">
            <a:avLst>
              <a:gd name="adj" fmla="val 13333"/>
            </a:avLst>
          </a:prstGeom>
          <a:solidFill>
            <a:srgbClr val="1E293B"/>
          </a:solidFill>
          <a:ln/>
          <a:effectLst>
            <a:outerShdw sx="100000" sy="100000" kx="0" ky="0" algn="bl" rotWithShape="0" blurRad="127000" dist="50800" dir="2700000">
              <a:srgbClr val="000000">
                <a:alpha val="35000"/>
              </a:srgbClr>
            </a:outerShdw>
          </a:effectLst>
        </p:spPr>
      </p:sp>
      <p:sp>
        <p:nvSpPr>
          <p:cNvPr id="19" name="Shape 16"/>
          <p:cNvSpPr/>
          <p:nvPr/>
        </p:nvSpPr>
        <p:spPr>
          <a:xfrm>
            <a:off x="5623560" y="2313432"/>
            <a:ext cx="54864" cy="822960"/>
          </a:xfrm>
          <a:prstGeom prst="roundRect">
            <a:avLst>
              <a:gd name="adj" fmla="val 50000"/>
            </a:avLst>
          </a:prstGeom>
          <a:solidFill>
            <a:srgbClr val="10B981"/>
          </a:solidFill>
          <a:ln/>
        </p:spPr>
      </p:sp>
      <p:sp>
        <p:nvSpPr>
          <p:cNvPr id="20" name="Shape 17"/>
          <p:cNvSpPr/>
          <p:nvPr/>
        </p:nvSpPr>
        <p:spPr>
          <a:xfrm>
            <a:off x="5760720" y="2423160"/>
            <a:ext cx="502920" cy="502920"/>
          </a:xfrm>
          <a:prstGeom prst="ellipse">
            <a:avLst/>
          </a:prstGeom>
          <a:solidFill>
            <a:srgbClr val="10B981">
              <a:alpha val="80000"/>
            </a:srgbClr>
          </a:solidFill>
          <a:ln/>
        </p:spPr>
      </p:sp>
      <p:sp>
        <p:nvSpPr>
          <p:cNvPr id="21" name="Text 18"/>
          <p:cNvSpPr/>
          <p:nvPr/>
        </p:nvSpPr>
        <p:spPr>
          <a:xfrm>
            <a:off x="5760720" y="242316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19"/>
          <p:cNvSpPr/>
          <p:nvPr/>
        </p:nvSpPr>
        <p:spPr>
          <a:xfrm>
            <a:off x="6400800" y="2386584"/>
            <a:ext cx="2331720" cy="292608"/>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Take Attendance Btn</a:t>
            </a:r>
            <a:endParaRPr lang="en-US" sz="1100" dirty="0"/>
          </a:p>
        </p:txBody>
      </p:sp>
      <p:sp>
        <p:nvSpPr>
          <p:cNvPr id="23" name="Text 20"/>
          <p:cNvSpPr/>
          <p:nvPr/>
        </p:nvSpPr>
        <p:spPr>
          <a:xfrm>
            <a:off x="6400800" y="2697480"/>
            <a:ext cx="233172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Opens OpenCV webcam — DeepFace scans and marks attendance in real time.</a:t>
            </a:r>
            <a:endParaRPr lang="en-US" sz="900" dirty="0"/>
          </a:p>
        </p:txBody>
      </p:sp>
      <p:sp>
        <p:nvSpPr>
          <p:cNvPr id="24" name="Shape 21"/>
          <p:cNvSpPr/>
          <p:nvPr/>
        </p:nvSpPr>
        <p:spPr>
          <a:xfrm>
            <a:off x="5623560" y="3273552"/>
            <a:ext cx="3246120" cy="822960"/>
          </a:xfrm>
          <a:prstGeom prst="roundRect">
            <a:avLst>
              <a:gd name="adj" fmla="val 13333"/>
            </a:avLst>
          </a:prstGeom>
          <a:solidFill>
            <a:srgbClr val="1E293B"/>
          </a:solidFill>
          <a:ln/>
          <a:effectLst>
            <a:outerShdw sx="100000" sy="100000" kx="0" ky="0" algn="bl" rotWithShape="0" blurRad="127000" dist="50800" dir="2700000">
              <a:srgbClr val="000000">
                <a:alpha val="35000"/>
              </a:srgbClr>
            </a:outerShdw>
          </a:effectLst>
        </p:spPr>
      </p:sp>
      <p:sp>
        <p:nvSpPr>
          <p:cNvPr id="25" name="Shape 22"/>
          <p:cNvSpPr/>
          <p:nvPr/>
        </p:nvSpPr>
        <p:spPr>
          <a:xfrm>
            <a:off x="5623560" y="3273552"/>
            <a:ext cx="54864" cy="822960"/>
          </a:xfrm>
          <a:prstGeom prst="roundRect">
            <a:avLst>
              <a:gd name="adj" fmla="val 50000"/>
            </a:avLst>
          </a:prstGeom>
          <a:solidFill>
            <a:srgbClr val="00B4D8"/>
          </a:solidFill>
          <a:ln/>
        </p:spPr>
      </p:sp>
      <p:sp>
        <p:nvSpPr>
          <p:cNvPr id="26" name="Shape 23"/>
          <p:cNvSpPr/>
          <p:nvPr/>
        </p:nvSpPr>
        <p:spPr>
          <a:xfrm>
            <a:off x="5760720" y="3383280"/>
            <a:ext cx="502920" cy="502920"/>
          </a:xfrm>
          <a:prstGeom prst="ellipse">
            <a:avLst/>
          </a:prstGeom>
          <a:solidFill>
            <a:srgbClr val="00B4D8">
              <a:alpha val="80000"/>
            </a:srgbClr>
          </a:solidFill>
          <a:ln/>
        </p:spPr>
      </p:sp>
      <p:sp>
        <p:nvSpPr>
          <p:cNvPr id="27" name="Text 24"/>
          <p:cNvSpPr/>
          <p:nvPr/>
        </p:nvSpPr>
        <p:spPr>
          <a:xfrm>
            <a:off x="5760720" y="338328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ext 25"/>
          <p:cNvSpPr/>
          <p:nvPr/>
        </p:nvSpPr>
        <p:spPr>
          <a:xfrm>
            <a:off x="6400800" y="3346704"/>
            <a:ext cx="2331720" cy="292608"/>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Download Attendance</a:t>
            </a:r>
            <a:endParaRPr lang="en-US" sz="1100" dirty="0"/>
          </a:p>
        </p:txBody>
      </p:sp>
      <p:sp>
        <p:nvSpPr>
          <p:cNvPr id="29" name="Text 26"/>
          <p:cNvSpPr/>
          <p:nvPr/>
        </p:nvSpPr>
        <p:spPr>
          <a:xfrm>
            <a:off x="6400800" y="3657600"/>
            <a:ext cx="233172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Exports full attendance log to CSV file with Name, Date, Time, Status.</a:t>
            </a:r>
            <a:endParaRPr lang="en-US" sz="900" dirty="0"/>
          </a:p>
        </p:txBody>
      </p:sp>
      <p:sp>
        <p:nvSpPr>
          <p:cNvPr id="30" name="Shape 27"/>
          <p:cNvSpPr/>
          <p:nvPr/>
        </p:nvSpPr>
        <p:spPr>
          <a:xfrm>
            <a:off x="5623560" y="4233672"/>
            <a:ext cx="3246120" cy="822960"/>
          </a:xfrm>
          <a:prstGeom prst="roundRect">
            <a:avLst>
              <a:gd name="adj" fmla="val 13333"/>
            </a:avLst>
          </a:prstGeom>
          <a:solidFill>
            <a:srgbClr val="1E293B"/>
          </a:solidFill>
          <a:ln/>
          <a:effectLst>
            <a:outerShdw sx="100000" sy="100000" kx="0" ky="0" algn="bl" rotWithShape="0" blurRad="127000" dist="50800" dir="2700000">
              <a:srgbClr val="000000">
                <a:alpha val="35000"/>
              </a:srgbClr>
            </a:outerShdw>
          </a:effectLst>
        </p:spPr>
      </p:sp>
      <p:sp>
        <p:nvSpPr>
          <p:cNvPr id="31" name="Shape 28"/>
          <p:cNvSpPr/>
          <p:nvPr/>
        </p:nvSpPr>
        <p:spPr>
          <a:xfrm>
            <a:off x="5623560" y="4233672"/>
            <a:ext cx="54864" cy="822960"/>
          </a:xfrm>
          <a:prstGeom prst="roundRect">
            <a:avLst>
              <a:gd name="adj" fmla="val 50000"/>
            </a:avLst>
          </a:prstGeom>
          <a:solidFill>
            <a:srgbClr val="818CF8"/>
          </a:solidFill>
          <a:ln/>
        </p:spPr>
      </p:sp>
      <p:sp>
        <p:nvSpPr>
          <p:cNvPr id="32" name="Shape 29"/>
          <p:cNvSpPr/>
          <p:nvPr/>
        </p:nvSpPr>
        <p:spPr>
          <a:xfrm>
            <a:off x="5760720" y="4343400"/>
            <a:ext cx="502920" cy="502920"/>
          </a:xfrm>
          <a:prstGeom prst="ellipse">
            <a:avLst/>
          </a:prstGeom>
          <a:solidFill>
            <a:srgbClr val="818CF8">
              <a:alpha val="80000"/>
            </a:srgbClr>
          </a:solidFill>
          <a:ln/>
        </p:spPr>
      </p:sp>
      <p:sp>
        <p:nvSpPr>
          <p:cNvPr id="33" name="Text 30"/>
          <p:cNvSpPr/>
          <p:nvPr/>
        </p:nvSpPr>
        <p:spPr>
          <a:xfrm>
            <a:off x="5760720" y="434340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Text 31"/>
          <p:cNvSpPr/>
          <p:nvPr/>
        </p:nvSpPr>
        <p:spPr>
          <a:xfrm>
            <a:off x="6400800" y="4306824"/>
            <a:ext cx="2331720" cy="292608"/>
          </a:xfrm>
          <a:prstGeom prst="rect">
            <a:avLst/>
          </a:prstGeom>
          <a:noFill/>
          <a:ln/>
        </p:spPr>
        <p:txBody>
          <a:bodyPr wrap="square" lIns="0" tIns="0" rIns="0" bIns="0"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Live Attendance Table</a:t>
            </a:r>
            <a:endParaRPr lang="en-US" sz="1100" dirty="0"/>
          </a:p>
        </p:txBody>
      </p:sp>
      <p:sp>
        <p:nvSpPr>
          <p:cNvPr id="35" name="Text 32"/>
          <p:cNvSpPr/>
          <p:nvPr/>
        </p:nvSpPr>
        <p:spPr>
          <a:xfrm>
            <a:off x="6400800" y="4617720"/>
            <a:ext cx="233172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Scrollable table shows all records ordered by latest entry first.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F59E0B"/>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11  CODE HIGHLIGHTS</a:t>
            </a:r>
            <a:endParaRPr lang="en-US" sz="2600" dirty="0"/>
          </a:p>
        </p:txBody>
      </p:sp>
      <p:sp>
        <p:nvSpPr>
          <p:cNvPr id="5" name="Shape 3"/>
          <p:cNvSpPr/>
          <p:nvPr/>
        </p:nvSpPr>
        <p:spPr>
          <a:xfrm>
            <a:off x="0" y="850392"/>
            <a:ext cx="9144000" cy="36576"/>
          </a:xfrm>
          <a:prstGeom prst="rect">
            <a:avLst/>
          </a:prstGeom>
          <a:solidFill>
            <a:srgbClr val="F59E0B">
              <a:alpha val="40000"/>
            </a:srgbClr>
          </a:solidFill>
          <a:ln/>
        </p:spPr>
      </p:sp>
      <p:sp>
        <p:nvSpPr>
          <p:cNvPr id="6" name="Shape 4"/>
          <p:cNvSpPr/>
          <p:nvPr/>
        </p:nvSpPr>
        <p:spPr>
          <a:xfrm>
            <a:off x="8732520" y="201168"/>
            <a:ext cx="256032" cy="256032"/>
          </a:xfrm>
          <a:prstGeom prst="ellipse">
            <a:avLst/>
          </a:prstGeom>
          <a:solidFill>
            <a:srgbClr val="F59E0B">
              <a:alpha val="70000"/>
            </a:srgbClr>
          </a:solidFill>
          <a:ln/>
        </p:spPr>
      </p:sp>
      <p:sp>
        <p:nvSpPr>
          <p:cNvPr id="7" name="Shape 5"/>
          <p:cNvSpPr/>
          <p:nvPr/>
        </p:nvSpPr>
        <p:spPr>
          <a:xfrm>
            <a:off x="320040" y="1005840"/>
            <a:ext cx="2788920" cy="3840480"/>
          </a:xfrm>
          <a:prstGeom prst="roundRect">
            <a:avLst>
              <a:gd name="adj" fmla="val 3934"/>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20040" y="1005840"/>
            <a:ext cx="54864" cy="3840480"/>
          </a:xfrm>
          <a:prstGeom prst="roundRect">
            <a:avLst>
              <a:gd name="adj" fmla="val 50000"/>
            </a:avLst>
          </a:prstGeom>
          <a:solidFill>
            <a:srgbClr val="00B4D8"/>
          </a:solidFill>
          <a:ln/>
        </p:spPr>
      </p:sp>
      <p:sp>
        <p:nvSpPr>
          <p:cNvPr id="9" name="Shape 7"/>
          <p:cNvSpPr/>
          <p:nvPr/>
        </p:nvSpPr>
        <p:spPr>
          <a:xfrm>
            <a:off x="393192" y="1143000"/>
            <a:ext cx="2633472" cy="347472"/>
          </a:xfrm>
          <a:prstGeom prst="roundRect">
            <a:avLst>
              <a:gd name="adj" fmla="val 15789"/>
            </a:avLst>
          </a:prstGeom>
          <a:solidFill>
            <a:srgbClr val="00B4D8">
              <a:alpha val="80000"/>
            </a:srgbClr>
          </a:solidFill>
          <a:ln/>
        </p:spPr>
      </p:sp>
      <p:sp>
        <p:nvSpPr>
          <p:cNvPr id="10" name="Text 8"/>
          <p:cNvSpPr/>
          <p:nvPr/>
        </p:nvSpPr>
        <p:spPr>
          <a:xfrm>
            <a:off x="411480" y="1143000"/>
            <a:ext cx="2596896" cy="347472"/>
          </a:xfrm>
          <a:prstGeom prst="rect">
            <a:avLst/>
          </a:prstGeom>
          <a:noFill/>
          <a:ln/>
        </p:spPr>
        <p:txBody>
          <a:bodyPr wrap="square" lIns="0" tIns="0" rIns="50800" bIns="0" rtlCol="0" anchor="ctr"/>
          <a:lstStyle/>
          <a:p>
            <a:pPr indent="0" marL="0">
              <a:buNone/>
            </a:pPr>
            <a:r>
              <a:rPr lang="en-US" sz="850" b="1" dirty="0">
                <a:solidFill>
                  <a:srgbClr val="00B4D8"/>
                </a:solidFill>
                <a:latin typeface="Consolas" pitchFamily="34" charset="0"/>
                <a:ea typeface="Consolas" pitchFamily="34" charset="-122"/>
                <a:cs typeface="Consolas" pitchFamily="34" charset="-120"/>
              </a:rPr>
              <a:t>DeepFace Recognition (attendance.py)</a:t>
            </a:r>
            <a:endParaRPr lang="en-US" sz="850" dirty="0"/>
          </a:p>
        </p:txBody>
      </p:sp>
      <p:sp>
        <p:nvSpPr>
          <p:cNvPr id="11" name="Shape 9"/>
          <p:cNvSpPr/>
          <p:nvPr/>
        </p:nvSpPr>
        <p:spPr>
          <a:xfrm>
            <a:off x="393192" y="1600200"/>
            <a:ext cx="2633472" cy="3063240"/>
          </a:xfrm>
          <a:prstGeom prst="roundRect">
            <a:avLst>
              <a:gd name="adj" fmla="val 2083"/>
            </a:avLst>
          </a:prstGeom>
          <a:solidFill>
            <a:srgbClr val="0F172A"/>
          </a:solidFill>
          <a:ln/>
        </p:spPr>
      </p:sp>
      <p:sp>
        <p:nvSpPr>
          <p:cNvPr id="12" name="Text 10"/>
          <p:cNvSpPr/>
          <p:nvPr/>
        </p:nvSpPr>
        <p:spPr>
          <a:xfrm>
            <a:off x="484632" y="1691640"/>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result = DeepFace.find(</a:t>
            </a:r>
            <a:endParaRPr lang="en-US" sz="850" dirty="0"/>
          </a:p>
        </p:txBody>
      </p:sp>
      <p:sp>
        <p:nvSpPr>
          <p:cNvPr id="13" name="Text 11"/>
          <p:cNvSpPr/>
          <p:nvPr/>
        </p:nvSpPr>
        <p:spPr>
          <a:xfrm>
            <a:off x="484632" y="2139696"/>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img_path="temp.jpg",</a:t>
            </a:r>
            <a:endParaRPr lang="en-US" sz="850" dirty="0"/>
          </a:p>
        </p:txBody>
      </p:sp>
      <p:sp>
        <p:nvSpPr>
          <p:cNvPr id="14" name="Text 12"/>
          <p:cNvSpPr/>
          <p:nvPr/>
        </p:nvSpPr>
        <p:spPr>
          <a:xfrm>
            <a:off x="484632" y="2587752"/>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db_path="dataset",</a:t>
            </a:r>
            <a:endParaRPr lang="en-US" sz="850" dirty="0"/>
          </a:p>
        </p:txBody>
      </p:sp>
      <p:sp>
        <p:nvSpPr>
          <p:cNvPr id="15" name="Text 13"/>
          <p:cNvSpPr/>
          <p:nvPr/>
        </p:nvSpPr>
        <p:spPr>
          <a:xfrm>
            <a:off x="484632" y="3035808"/>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model_name="Facenet512",</a:t>
            </a:r>
            <a:endParaRPr lang="en-US" sz="850" dirty="0"/>
          </a:p>
        </p:txBody>
      </p:sp>
      <p:sp>
        <p:nvSpPr>
          <p:cNvPr id="16" name="Text 14"/>
          <p:cNvSpPr/>
          <p:nvPr/>
        </p:nvSpPr>
        <p:spPr>
          <a:xfrm>
            <a:off x="484632" y="3483864"/>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detector_backend="opencv",</a:t>
            </a:r>
            <a:endParaRPr lang="en-US" sz="850" dirty="0"/>
          </a:p>
        </p:txBody>
      </p:sp>
      <p:sp>
        <p:nvSpPr>
          <p:cNvPr id="17" name="Text 15"/>
          <p:cNvSpPr/>
          <p:nvPr/>
        </p:nvSpPr>
        <p:spPr>
          <a:xfrm>
            <a:off x="484632" y="3931920"/>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enforce_detection=False</a:t>
            </a:r>
            <a:endParaRPr lang="en-US" sz="850" dirty="0"/>
          </a:p>
        </p:txBody>
      </p:sp>
      <p:sp>
        <p:nvSpPr>
          <p:cNvPr id="18" name="Text 16"/>
          <p:cNvSpPr/>
          <p:nvPr/>
        </p:nvSpPr>
        <p:spPr>
          <a:xfrm>
            <a:off x="484632" y="4379976"/>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19" name="Shape 17"/>
          <p:cNvSpPr/>
          <p:nvPr/>
        </p:nvSpPr>
        <p:spPr>
          <a:xfrm>
            <a:off x="3246120" y="1005840"/>
            <a:ext cx="2788920" cy="3840480"/>
          </a:xfrm>
          <a:prstGeom prst="roundRect">
            <a:avLst>
              <a:gd name="adj" fmla="val 3934"/>
            </a:avLst>
          </a:prstGeom>
          <a:solidFill>
            <a:srgbClr val="1E293B"/>
          </a:solidFill>
          <a:ln/>
          <a:effectLst>
            <a:outerShdw sx="100000" sy="100000" kx="0" ky="0" algn="bl" rotWithShape="0" blurRad="127000" dist="50800" dir="2700000">
              <a:srgbClr val="000000">
                <a:alpha val="35000"/>
              </a:srgbClr>
            </a:outerShdw>
          </a:effectLst>
        </p:spPr>
      </p:sp>
      <p:sp>
        <p:nvSpPr>
          <p:cNvPr id="20" name="Shape 18"/>
          <p:cNvSpPr/>
          <p:nvPr/>
        </p:nvSpPr>
        <p:spPr>
          <a:xfrm>
            <a:off x="3246120" y="1005840"/>
            <a:ext cx="54864" cy="3840480"/>
          </a:xfrm>
          <a:prstGeom prst="roundRect">
            <a:avLst>
              <a:gd name="adj" fmla="val 50000"/>
            </a:avLst>
          </a:prstGeom>
          <a:solidFill>
            <a:srgbClr val="10B981"/>
          </a:solidFill>
          <a:ln/>
        </p:spPr>
      </p:sp>
      <p:sp>
        <p:nvSpPr>
          <p:cNvPr id="21" name="Shape 19"/>
          <p:cNvSpPr/>
          <p:nvPr/>
        </p:nvSpPr>
        <p:spPr>
          <a:xfrm>
            <a:off x="3319272" y="1143000"/>
            <a:ext cx="2633472" cy="347472"/>
          </a:xfrm>
          <a:prstGeom prst="roundRect">
            <a:avLst>
              <a:gd name="adj" fmla="val 15789"/>
            </a:avLst>
          </a:prstGeom>
          <a:solidFill>
            <a:srgbClr val="10B981">
              <a:alpha val="80000"/>
            </a:srgbClr>
          </a:solidFill>
          <a:ln/>
        </p:spPr>
      </p:sp>
      <p:sp>
        <p:nvSpPr>
          <p:cNvPr id="22" name="Text 20"/>
          <p:cNvSpPr/>
          <p:nvPr/>
        </p:nvSpPr>
        <p:spPr>
          <a:xfrm>
            <a:off x="3337560" y="1143000"/>
            <a:ext cx="2596896" cy="347472"/>
          </a:xfrm>
          <a:prstGeom prst="rect">
            <a:avLst/>
          </a:prstGeom>
          <a:noFill/>
          <a:ln/>
        </p:spPr>
        <p:txBody>
          <a:bodyPr wrap="square" lIns="0" tIns="0" rIns="50800" bIns="0" rtlCol="0" anchor="ctr"/>
          <a:lstStyle/>
          <a:p>
            <a:pPr indent="0" marL="0">
              <a:buNone/>
            </a:pPr>
            <a:r>
              <a:rPr lang="en-US" sz="850" b="1" dirty="0">
                <a:solidFill>
                  <a:srgbClr val="10B981"/>
                </a:solidFill>
                <a:latin typeface="Consolas" pitchFamily="34" charset="0"/>
                <a:ea typeface="Consolas" pitchFamily="34" charset="-122"/>
                <a:cs typeface="Consolas" pitchFamily="34" charset="-120"/>
              </a:rPr>
              <a:t>Mark Attendance (database.py)</a:t>
            </a:r>
            <a:endParaRPr lang="en-US" sz="850" dirty="0"/>
          </a:p>
        </p:txBody>
      </p:sp>
      <p:sp>
        <p:nvSpPr>
          <p:cNvPr id="23" name="Shape 21"/>
          <p:cNvSpPr/>
          <p:nvPr/>
        </p:nvSpPr>
        <p:spPr>
          <a:xfrm>
            <a:off x="3319272" y="1600200"/>
            <a:ext cx="2633472" cy="3063240"/>
          </a:xfrm>
          <a:prstGeom prst="roundRect">
            <a:avLst>
              <a:gd name="adj" fmla="val 2083"/>
            </a:avLst>
          </a:prstGeom>
          <a:solidFill>
            <a:srgbClr val="0F172A"/>
          </a:solidFill>
          <a:ln/>
        </p:spPr>
      </p:sp>
      <p:sp>
        <p:nvSpPr>
          <p:cNvPr id="24" name="Text 22"/>
          <p:cNvSpPr/>
          <p:nvPr/>
        </p:nvSpPr>
        <p:spPr>
          <a:xfrm>
            <a:off x="3410712" y="1691640"/>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def mark_attendance(self, name, status):</a:t>
            </a:r>
            <a:endParaRPr lang="en-US" sz="850" dirty="0"/>
          </a:p>
        </p:txBody>
      </p:sp>
      <p:sp>
        <p:nvSpPr>
          <p:cNvPr id="25" name="Text 23"/>
          <p:cNvSpPr/>
          <p:nvPr/>
        </p:nvSpPr>
        <p:spPr>
          <a:xfrm>
            <a:off x="3410712" y="2139696"/>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today = datetime.now()</a:t>
            </a:r>
            <a:endParaRPr lang="en-US" sz="850" dirty="0"/>
          </a:p>
        </p:txBody>
      </p:sp>
      <p:sp>
        <p:nvSpPr>
          <p:cNvPr id="26" name="Text 24"/>
          <p:cNvSpPr/>
          <p:nvPr/>
        </p:nvSpPr>
        <p:spPr>
          <a:xfrm>
            <a:off x="3410712" y="2587752"/>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.strftime("%d-%m-%Y")</a:t>
            </a:r>
            <a:endParaRPr lang="en-US" sz="850" dirty="0"/>
          </a:p>
        </p:txBody>
      </p:sp>
      <p:sp>
        <p:nvSpPr>
          <p:cNvPr id="27" name="Text 25"/>
          <p:cNvSpPr/>
          <p:nvPr/>
        </p:nvSpPr>
        <p:spPr>
          <a:xfrm>
            <a:off x="3410712" y="3035808"/>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 Prevent duplicate entries</a:t>
            </a:r>
            <a:endParaRPr lang="en-US" sz="850" dirty="0"/>
          </a:p>
        </p:txBody>
      </p:sp>
      <p:sp>
        <p:nvSpPr>
          <p:cNvPr id="28" name="Text 26"/>
          <p:cNvSpPr/>
          <p:nvPr/>
        </p:nvSpPr>
        <p:spPr>
          <a:xfrm>
            <a:off x="3410712" y="3483864"/>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if not already_marked(name, today):</a:t>
            </a:r>
            <a:endParaRPr lang="en-US" sz="850" dirty="0"/>
          </a:p>
        </p:txBody>
      </p:sp>
      <p:sp>
        <p:nvSpPr>
          <p:cNvPr id="29" name="Text 27"/>
          <p:cNvSpPr/>
          <p:nvPr/>
        </p:nvSpPr>
        <p:spPr>
          <a:xfrm>
            <a:off x="3410712" y="3931920"/>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INSERT INTO attendance ...</a:t>
            </a:r>
            <a:endParaRPr lang="en-US" sz="850" dirty="0"/>
          </a:p>
        </p:txBody>
      </p:sp>
      <p:sp>
        <p:nvSpPr>
          <p:cNvPr id="30" name="Shape 28"/>
          <p:cNvSpPr/>
          <p:nvPr/>
        </p:nvSpPr>
        <p:spPr>
          <a:xfrm>
            <a:off x="6172200" y="1005840"/>
            <a:ext cx="2788920" cy="3840480"/>
          </a:xfrm>
          <a:prstGeom prst="roundRect">
            <a:avLst>
              <a:gd name="adj" fmla="val 3934"/>
            </a:avLst>
          </a:prstGeom>
          <a:solidFill>
            <a:srgbClr val="1E293B"/>
          </a:solidFill>
          <a:ln/>
          <a:effectLst>
            <a:outerShdw sx="100000" sy="100000" kx="0" ky="0" algn="bl" rotWithShape="0" blurRad="127000" dist="50800" dir="2700000">
              <a:srgbClr val="000000">
                <a:alpha val="35000"/>
              </a:srgbClr>
            </a:outerShdw>
          </a:effectLst>
        </p:spPr>
      </p:sp>
      <p:sp>
        <p:nvSpPr>
          <p:cNvPr id="31" name="Shape 29"/>
          <p:cNvSpPr/>
          <p:nvPr/>
        </p:nvSpPr>
        <p:spPr>
          <a:xfrm>
            <a:off x="6172200" y="1005840"/>
            <a:ext cx="54864" cy="3840480"/>
          </a:xfrm>
          <a:prstGeom prst="roundRect">
            <a:avLst>
              <a:gd name="adj" fmla="val 50000"/>
            </a:avLst>
          </a:prstGeom>
          <a:solidFill>
            <a:srgbClr val="818CF8"/>
          </a:solidFill>
          <a:ln/>
        </p:spPr>
      </p:sp>
      <p:sp>
        <p:nvSpPr>
          <p:cNvPr id="32" name="Shape 30"/>
          <p:cNvSpPr/>
          <p:nvPr/>
        </p:nvSpPr>
        <p:spPr>
          <a:xfrm>
            <a:off x="6245352" y="1143000"/>
            <a:ext cx="2633472" cy="347472"/>
          </a:xfrm>
          <a:prstGeom prst="roundRect">
            <a:avLst>
              <a:gd name="adj" fmla="val 15789"/>
            </a:avLst>
          </a:prstGeom>
          <a:solidFill>
            <a:srgbClr val="818CF8">
              <a:alpha val="80000"/>
            </a:srgbClr>
          </a:solidFill>
          <a:ln/>
        </p:spPr>
      </p:sp>
      <p:sp>
        <p:nvSpPr>
          <p:cNvPr id="33" name="Text 31"/>
          <p:cNvSpPr/>
          <p:nvPr/>
        </p:nvSpPr>
        <p:spPr>
          <a:xfrm>
            <a:off x="6263640" y="1143000"/>
            <a:ext cx="2596896" cy="347472"/>
          </a:xfrm>
          <a:prstGeom prst="rect">
            <a:avLst/>
          </a:prstGeom>
          <a:noFill/>
          <a:ln/>
        </p:spPr>
        <p:txBody>
          <a:bodyPr wrap="square" lIns="0" tIns="0" rIns="50800" bIns="0" rtlCol="0" anchor="ctr"/>
          <a:lstStyle/>
          <a:p>
            <a:pPr indent="0" marL="0">
              <a:buNone/>
            </a:pPr>
            <a:r>
              <a:rPr lang="en-US" sz="850" b="1" dirty="0">
                <a:solidFill>
                  <a:srgbClr val="818CF8"/>
                </a:solidFill>
                <a:latin typeface="Consolas" pitchFamily="34" charset="0"/>
                <a:ea typeface="Consolas" pitchFamily="34" charset="-122"/>
                <a:cs typeface="Consolas" pitchFamily="34" charset="-120"/>
              </a:rPr>
              <a:t>Face Capture (add_face.py)</a:t>
            </a:r>
            <a:endParaRPr lang="en-US" sz="850" dirty="0"/>
          </a:p>
        </p:txBody>
      </p:sp>
      <p:sp>
        <p:nvSpPr>
          <p:cNvPr id="34" name="Shape 32"/>
          <p:cNvSpPr/>
          <p:nvPr/>
        </p:nvSpPr>
        <p:spPr>
          <a:xfrm>
            <a:off x="6245352" y="1600200"/>
            <a:ext cx="2633472" cy="3063240"/>
          </a:xfrm>
          <a:prstGeom prst="roundRect">
            <a:avLst>
              <a:gd name="adj" fmla="val 2083"/>
            </a:avLst>
          </a:prstGeom>
          <a:solidFill>
            <a:srgbClr val="0F172A"/>
          </a:solidFill>
          <a:ln/>
        </p:spPr>
      </p:sp>
      <p:sp>
        <p:nvSpPr>
          <p:cNvPr id="35" name="Text 33"/>
          <p:cNvSpPr/>
          <p:nvPr/>
        </p:nvSpPr>
        <p:spPr>
          <a:xfrm>
            <a:off x="6336792" y="1691640"/>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while img_id &lt; 50:</a:t>
            </a:r>
            <a:endParaRPr lang="en-US" sz="850" dirty="0"/>
          </a:p>
        </p:txBody>
      </p:sp>
      <p:sp>
        <p:nvSpPr>
          <p:cNvPr id="36" name="Text 34"/>
          <p:cNvSpPr/>
          <p:nvPr/>
        </p:nvSpPr>
        <p:spPr>
          <a:xfrm>
            <a:off x="6336792" y="2139696"/>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ret, frame = cap.read()</a:t>
            </a:r>
            <a:endParaRPr lang="en-US" sz="850" dirty="0"/>
          </a:p>
        </p:txBody>
      </p:sp>
      <p:sp>
        <p:nvSpPr>
          <p:cNvPr id="37" name="Text 35"/>
          <p:cNvSpPr/>
          <p:nvPr/>
        </p:nvSpPr>
        <p:spPr>
          <a:xfrm>
            <a:off x="6336792" y="2587752"/>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faces = detector.detectMultiScale(</a:t>
            </a:r>
            <a:endParaRPr lang="en-US" sz="850" dirty="0"/>
          </a:p>
        </p:txBody>
      </p:sp>
      <p:sp>
        <p:nvSpPr>
          <p:cNvPr id="38" name="Text 36"/>
          <p:cNvSpPr/>
          <p:nvPr/>
        </p:nvSpPr>
        <p:spPr>
          <a:xfrm>
            <a:off x="6336792" y="3035808"/>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gray, 1.3, minNeighbors=5)</a:t>
            </a:r>
            <a:endParaRPr lang="en-US" sz="850" dirty="0"/>
          </a:p>
        </p:txBody>
      </p:sp>
      <p:sp>
        <p:nvSpPr>
          <p:cNvPr id="39" name="Text 37"/>
          <p:cNvSpPr/>
          <p:nvPr/>
        </p:nvSpPr>
        <p:spPr>
          <a:xfrm>
            <a:off x="6336792" y="3483864"/>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face = cv2.resize(face,(224,224))</a:t>
            </a:r>
            <a:endParaRPr lang="en-US" sz="850" dirty="0"/>
          </a:p>
        </p:txBody>
      </p:sp>
      <p:sp>
        <p:nvSpPr>
          <p:cNvPr id="40" name="Text 38"/>
          <p:cNvSpPr/>
          <p:nvPr/>
        </p:nvSpPr>
        <p:spPr>
          <a:xfrm>
            <a:off x="6336792" y="3931920"/>
            <a:ext cx="2468880" cy="384048"/>
          </a:xfrm>
          <a:prstGeom prst="rect">
            <a:avLst/>
          </a:prstGeom>
          <a:noFill/>
          <a:ln/>
        </p:spPr>
        <p:txBody>
          <a:bodyPr wrap="square" lIns="0" tIns="0" rIns="0" bIns="0" rtlCol="0" anchor="ctr"/>
          <a:lstStyle/>
          <a:p>
            <a:pPr indent="0" marL="0">
              <a:buNone/>
            </a:pPr>
            <a:r>
              <a:rPr lang="en-US" sz="850" dirty="0">
                <a:solidFill>
                  <a:srgbClr val="E2E8F0"/>
                </a:solidFill>
                <a:latin typeface="Consolas" pitchFamily="34" charset="0"/>
                <a:ea typeface="Consolas" pitchFamily="34" charset="-122"/>
                <a:cs typeface="Consolas" pitchFamily="34" charset="-120"/>
              </a:rPr>
              <a:t>    cv2.imwrite(img_path, face)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10B981"/>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12  ADVANTAGES</a:t>
            </a:r>
            <a:endParaRPr lang="en-US" sz="2600" dirty="0"/>
          </a:p>
        </p:txBody>
      </p:sp>
      <p:sp>
        <p:nvSpPr>
          <p:cNvPr id="5" name="Shape 3"/>
          <p:cNvSpPr/>
          <p:nvPr/>
        </p:nvSpPr>
        <p:spPr>
          <a:xfrm>
            <a:off x="0" y="850392"/>
            <a:ext cx="9144000" cy="36576"/>
          </a:xfrm>
          <a:prstGeom prst="rect">
            <a:avLst/>
          </a:prstGeom>
          <a:solidFill>
            <a:srgbClr val="10B981">
              <a:alpha val="40000"/>
            </a:srgbClr>
          </a:solidFill>
          <a:ln/>
        </p:spPr>
      </p:sp>
      <p:sp>
        <p:nvSpPr>
          <p:cNvPr id="6" name="Shape 4"/>
          <p:cNvSpPr/>
          <p:nvPr/>
        </p:nvSpPr>
        <p:spPr>
          <a:xfrm>
            <a:off x="8732520" y="201168"/>
            <a:ext cx="256032" cy="256032"/>
          </a:xfrm>
          <a:prstGeom prst="ellipse">
            <a:avLst/>
          </a:prstGeom>
          <a:solidFill>
            <a:srgbClr val="10B981">
              <a:alpha val="70000"/>
            </a:srgbClr>
          </a:solidFill>
          <a:ln/>
        </p:spPr>
      </p:sp>
      <p:sp>
        <p:nvSpPr>
          <p:cNvPr id="7" name="Shape 5"/>
          <p:cNvSpPr/>
          <p:nvPr/>
        </p:nvSpPr>
        <p:spPr>
          <a:xfrm>
            <a:off x="365760" y="98755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65760" y="987552"/>
            <a:ext cx="54864" cy="713232"/>
          </a:xfrm>
          <a:prstGeom prst="roundRect">
            <a:avLst>
              <a:gd name="adj" fmla="val 50000"/>
            </a:avLst>
          </a:prstGeom>
          <a:solidFill>
            <a:srgbClr val="10B981"/>
          </a:solidFill>
          <a:ln/>
        </p:spPr>
      </p:sp>
      <p:sp>
        <p:nvSpPr>
          <p:cNvPr id="9" name="Shape 7"/>
          <p:cNvSpPr/>
          <p:nvPr/>
        </p:nvSpPr>
        <p:spPr>
          <a:xfrm>
            <a:off x="566928" y="1097280"/>
            <a:ext cx="493776" cy="493776"/>
          </a:xfrm>
          <a:prstGeom prst="ellipse">
            <a:avLst/>
          </a:prstGeom>
          <a:solidFill>
            <a:srgbClr val="10B981">
              <a:alpha val="80000"/>
            </a:srgbClr>
          </a:solidFill>
          <a:ln/>
        </p:spPr>
      </p:sp>
      <p:sp>
        <p:nvSpPr>
          <p:cNvPr id="10" name="Text 8"/>
          <p:cNvSpPr/>
          <p:nvPr/>
        </p:nvSpPr>
        <p:spPr>
          <a:xfrm>
            <a:off x="566928" y="1097280"/>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1207008" y="1060704"/>
            <a:ext cx="3200400" cy="310896"/>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Saves Time</a:t>
            </a:r>
            <a:endParaRPr lang="en-US" sz="1300" dirty="0"/>
          </a:p>
        </p:txBody>
      </p:sp>
      <p:sp>
        <p:nvSpPr>
          <p:cNvPr id="12" name="Text 10"/>
          <p:cNvSpPr/>
          <p:nvPr/>
        </p:nvSpPr>
        <p:spPr>
          <a:xfrm>
            <a:off x="1207008" y="1371600"/>
            <a:ext cx="475488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Attendance completed in seconds — not minutes per class session.</a:t>
            </a:r>
            <a:endParaRPr lang="en-US" sz="1000" dirty="0"/>
          </a:p>
        </p:txBody>
      </p:sp>
      <p:sp>
        <p:nvSpPr>
          <p:cNvPr id="13" name="Shape 11"/>
          <p:cNvSpPr/>
          <p:nvPr/>
        </p:nvSpPr>
        <p:spPr>
          <a:xfrm>
            <a:off x="6309360" y="1188720"/>
            <a:ext cx="2011680" cy="274320"/>
          </a:xfrm>
          <a:prstGeom prst="roundRect">
            <a:avLst>
              <a:gd name="adj" fmla="val 26667"/>
            </a:avLst>
          </a:prstGeom>
          <a:solidFill>
            <a:srgbClr val="0F172A"/>
          </a:solidFill>
          <a:ln/>
        </p:spPr>
      </p:sp>
      <p:sp>
        <p:nvSpPr>
          <p:cNvPr id="14" name="Shape 12"/>
          <p:cNvSpPr/>
          <p:nvPr/>
        </p:nvSpPr>
        <p:spPr>
          <a:xfrm>
            <a:off x="6309360" y="1188720"/>
            <a:ext cx="1810512" cy="274320"/>
          </a:xfrm>
          <a:prstGeom prst="roundRect">
            <a:avLst>
              <a:gd name="adj" fmla="val 26667"/>
            </a:avLst>
          </a:prstGeom>
          <a:solidFill>
            <a:srgbClr val="10B981"/>
          </a:solidFill>
          <a:ln/>
        </p:spPr>
      </p:sp>
      <p:sp>
        <p:nvSpPr>
          <p:cNvPr id="15" name="Text 13"/>
          <p:cNvSpPr/>
          <p:nvPr/>
        </p:nvSpPr>
        <p:spPr>
          <a:xfrm>
            <a:off x="8366760" y="1188720"/>
            <a:ext cx="411480" cy="274320"/>
          </a:xfrm>
          <a:prstGeom prst="rect">
            <a:avLst/>
          </a:prstGeom>
          <a:noFill/>
          <a:ln/>
        </p:spPr>
        <p:txBody>
          <a:bodyPr wrap="square" lIns="0" tIns="0" rIns="0" bIns="0" rtlCol="0" anchor="ctr"/>
          <a:lstStyle/>
          <a:p>
            <a:pPr indent="0" marL="0">
              <a:buNone/>
            </a:pPr>
            <a:r>
              <a:rPr lang="en-US" sz="900" b="1" dirty="0">
                <a:solidFill>
                  <a:srgbClr val="10B981"/>
                </a:solidFill>
              </a:rPr>
              <a:t>90%</a:t>
            </a:r>
            <a:endParaRPr lang="en-US" sz="900" dirty="0"/>
          </a:p>
        </p:txBody>
      </p:sp>
      <p:sp>
        <p:nvSpPr>
          <p:cNvPr id="16" name="Shape 14"/>
          <p:cNvSpPr/>
          <p:nvPr/>
        </p:nvSpPr>
        <p:spPr>
          <a:xfrm>
            <a:off x="365760" y="181051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17" name="Shape 15"/>
          <p:cNvSpPr/>
          <p:nvPr/>
        </p:nvSpPr>
        <p:spPr>
          <a:xfrm>
            <a:off x="365760" y="1810512"/>
            <a:ext cx="54864" cy="713232"/>
          </a:xfrm>
          <a:prstGeom prst="roundRect">
            <a:avLst>
              <a:gd name="adj" fmla="val 50000"/>
            </a:avLst>
          </a:prstGeom>
          <a:solidFill>
            <a:srgbClr val="38BDF8"/>
          </a:solidFill>
          <a:ln/>
        </p:spPr>
      </p:sp>
      <p:sp>
        <p:nvSpPr>
          <p:cNvPr id="18" name="Shape 16"/>
          <p:cNvSpPr/>
          <p:nvPr/>
        </p:nvSpPr>
        <p:spPr>
          <a:xfrm>
            <a:off x="566928" y="1920240"/>
            <a:ext cx="493776" cy="493776"/>
          </a:xfrm>
          <a:prstGeom prst="ellipse">
            <a:avLst/>
          </a:prstGeom>
          <a:solidFill>
            <a:srgbClr val="38BDF8">
              <a:alpha val="80000"/>
            </a:srgbClr>
          </a:solidFill>
          <a:ln/>
        </p:spPr>
      </p:sp>
      <p:sp>
        <p:nvSpPr>
          <p:cNvPr id="19" name="Text 17"/>
          <p:cNvSpPr/>
          <p:nvPr/>
        </p:nvSpPr>
        <p:spPr>
          <a:xfrm>
            <a:off x="566928" y="1920240"/>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1207008" y="1883664"/>
            <a:ext cx="3200400" cy="310896"/>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Improves Efficiency</a:t>
            </a:r>
            <a:endParaRPr lang="en-US" sz="1300" dirty="0"/>
          </a:p>
        </p:txBody>
      </p:sp>
      <p:sp>
        <p:nvSpPr>
          <p:cNvPr id="21" name="Text 19"/>
          <p:cNvSpPr/>
          <p:nvPr/>
        </p:nvSpPr>
        <p:spPr>
          <a:xfrm>
            <a:off x="1207008" y="2194560"/>
            <a:ext cx="475488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Faculty concentrate on teaching rather than admin tasks.</a:t>
            </a:r>
            <a:endParaRPr lang="en-US" sz="1000" dirty="0"/>
          </a:p>
        </p:txBody>
      </p:sp>
      <p:sp>
        <p:nvSpPr>
          <p:cNvPr id="22" name="Shape 20"/>
          <p:cNvSpPr/>
          <p:nvPr/>
        </p:nvSpPr>
        <p:spPr>
          <a:xfrm>
            <a:off x="6309360" y="2011680"/>
            <a:ext cx="2011680" cy="274320"/>
          </a:xfrm>
          <a:prstGeom prst="roundRect">
            <a:avLst>
              <a:gd name="adj" fmla="val 26667"/>
            </a:avLst>
          </a:prstGeom>
          <a:solidFill>
            <a:srgbClr val="0F172A"/>
          </a:solidFill>
          <a:ln/>
        </p:spPr>
      </p:sp>
      <p:sp>
        <p:nvSpPr>
          <p:cNvPr id="23" name="Shape 21"/>
          <p:cNvSpPr/>
          <p:nvPr/>
        </p:nvSpPr>
        <p:spPr>
          <a:xfrm>
            <a:off x="6309360" y="2011680"/>
            <a:ext cx="1770278" cy="274320"/>
          </a:xfrm>
          <a:prstGeom prst="roundRect">
            <a:avLst>
              <a:gd name="adj" fmla="val 26667"/>
            </a:avLst>
          </a:prstGeom>
          <a:solidFill>
            <a:srgbClr val="38BDF8"/>
          </a:solidFill>
          <a:ln/>
        </p:spPr>
      </p:sp>
      <p:sp>
        <p:nvSpPr>
          <p:cNvPr id="24" name="Text 22"/>
          <p:cNvSpPr/>
          <p:nvPr/>
        </p:nvSpPr>
        <p:spPr>
          <a:xfrm>
            <a:off x="8366760" y="2011680"/>
            <a:ext cx="411480" cy="274320"/>
          </a:xfrm>
          <a:prstGeom prst="rect">
            <a:avLst/>
          </a:prstGeom>
          <a:noFill/>
          <a:ln/>
        </p:spPr>
        <p:txBody>
          <a:bodyPr wrap="square" lIns="0" tIns="0" rIns="0" bIns="0" rtlCol="0" anchor="ctr"/>
          <a:lstStyle/>
          <a:p>
            <a:pPr indent="0" marL="0">
              <a:buNone/>
            </a:pPr>
            <a:r>
              <a:rPr lang="en-US" sz="900" b="1" dirty="0">
                <a:solidFill>
                  <a:srgbClr val="38BDF8"/>
                </a:solidFill>
              </a:rPr>
              <a:t>88%</a:t>
            </a:r>
            <a:endParaRPr lang="en-US" sz="900" dirty="0"/>
          </a:p>
        </p:txBody>
      </p:sp>
      <p:sp>
        <p:nvSpPr>
          <p:cNvPr id="25" name="Shape 23"/>
          <p:cNvSpPr/>
          <p:nvPr/>
        </p:nvSpPr>
        <p:spPr>
          <a:xfrm>
            <a:off x="365760" y="263347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26" name="Shape 24"/>
          <p:cNvSpPr/>
          <p:nvPr/>
        </p:nvSpPr>
        <p:spPr>
          <a:xfrm>
            <a:off x="365760" y="2633472"/>
            <a:ext cx="54864" cy="713232"/>
          </a:xfrm>
          <a:prstGeom prst="roundRect">
            <a:avLst>
              <a:gd name="adj" fmla="val 50000"/>
            </a:avLst>
          </a:prstGeom>
          <a:solidFill>
            <a:srgbClr val="F59E0B"/>
          </a:solidFill>
          <a:ln/>
        </p:spPr>
      </p:sp>
      <p:sp>
        <p:nvSpPr>
          <p:cNvPr id="27" name="Shape 25"/>
          <p:cNvSpPr/>
          <p:nvPr/>
        </p:nvSpPr>
        <p:spPr>
          <a:xfrm>
            <a:off x="566928" y="2743200"/>
            <a:ext cx="493776" cy="493776"/>
          </a:xfrm>
          <a:prstGeom prst="ellipse">
            <a:avLst/>
          </a:prstGeom>
          <a:solidFill>
            <a:srgbClr val="F59E0B">
              <a:alpha val="80000"/>
            </a:srgbClr>
          </a:solidFill>
          <a:ln/>
        </p:spPr>
      </p:sp>
      <p:sp>
        <p:nvSpPr>
          <p:cNvPr id="28" name="Text 26"/>
          <p:cNvSpPr/>
          <p:nvPr/>
        </p:nvSpPr>
        <p:spPr>
          <a:xfrm>
            <a:off x="566928" y="2743200"/>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9" name="Text 27"/>
          <p:cNvSpPr/>
          <p:nvPr/>
        </p:nvSpPr>
        <p:spPr>
          <a:xfrm>
            <a:off x="1207008" y="2706624"/>
            <a:ext cx="3200400" cy="310896"/>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Zero Paperwork</a:t>
            </a:r>
            <a:endParaRPr lang="en-US" sz="1300" dirty="0"/>
          </a:p>
        </p:txBody>
      </p:sp>
      <p:sp>
        <p:nvSpPr>
          <p:cNvPr id="30" name="Text 28"/>
          <p:cNvSpPr/>
          <p:nvPr/>
        </p:nvSpPr>
        <p:spPr>
          <a:xfrm>
            <a:off x="1207008" y="3017520"/>
            <a:ext cx="475488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Fully digital system — no physical attendance sheets needed.</a:t>
            </a:r>
            <a:endParaRPr lang="en-US" sz="1000" dirty="0"/>
          </a:p>
        </p:txBody>
      </p:sp>
      <p:sp>
        <p:nvSpPr>
          <p:cNvPr id="31" name="Shape 29"/>
          <p:cNvSpPr/>
          <p:nvPr/>
        </p:nvSpPr>
        <p:spPr>
          <a:xfrm>
            <a:off x="6309360" y="2834640"/>
            <a:ext cx="2011680" cy="274320"/>
          </a:xfrm>
          <a:prstGeom prst="roundRect">
            <a:avLst>
              <a:gd name="adj" fmla="val 26667"/>
            </a:avLst>
          </a:prstGeom>
          <a:solidFill>
            <a:srgbClr val="0F172A"/>
          </a:solidFill>
          <a:ln/>
        </p:spPr>
      </p:sp>
      <p:sp>
        <p:nvSpPr>
          <p:cNvPr id="32" name="Shape 30"/>
          <p:cNvSpPr/>
          <p:nvPr/>
        </p:nvSpPr>
        <p:spPr>
          <a:xfrm>
            <a:off x="6309360" y="2834640"/>
            <a:ext cx="2011680" cy="274320"/>
          </a:xfrm>
          <a:prstGeom prst="roundRect">
            <a:avLst>
              <a:gd name="adj" fmla="val 26667"/>
            </a:avLst>
          </a:prstGeom>
          <a:solidFill>
            <a:srgbClr val="F59E0B"/>
          </a:solidFill>
          <a:ln/>
        </p:spPr>
      </p:sp>
      <p:sp>
        <p:nvSpPr>
          <p:cNvPr id="33" name="Text 31"/>
          <p:cNvSpPr/>
          <p:nvPr/>
        </p:nvSpPr>
        <p:spPr>
          <a:xfrm>
            <a:off x="8366760" y="2834640"/>
            <a:ext cx="411480" cy="274320"/>
          </a:xfrm>
          <a:prstGeom prst="rect">
            <a:avLst/>
          </a:prstGeom>
          <a:noFill/>
          <a:ln/>
        </p:spPr>
        <p:txBody>
          <a:bodyPr wrap="square" lIns="0" tIns="0" rIns="0" bIns="0" rtlCol="0" anchor="ctr"/>
          <a:lstStyle/>
          <a:p>
            <a:pPr indent="0" marL="0">
              <a:buNone/>
            </a:pPr>
            <a:r>
              <a:rPr lang="en-US" sz="900" b="1" dirty="0">
                <a:solidFill>
                  <a:srgbClr val="F59E0B"/>
                </a:solidFill>
              </a:rPr>
              <a:t>100%</a:t>
            </a:r>
            <a:endParaRPr lang="en-US" sz="900" dirty="0"/>
          </a:p>
        </p:txBody>
      </p:sp>
      <p:sp>
        <p:nvSpPr>
          <p:cNvPr id="34" name="Shape 32"/>
          <p:cNvSpPr/>
          <p:nvPr/>
        </p:nvSpPr>
        <p:spPr>
          <a:xfrm>
            <a:off x="365760" y="345643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35" name="Shape 33"/>
          <p:cNvSpPr/>
          <p:nvPr/>
        </p:nvSpPr>
        <p:spPr>
          <a:xfrm>
            <a:off x="365760" y="3456432"/>
            <a:ext cx="54864" cy="713232"/>
          </a:xfrm>
          <a:prstGeom prst="roundRect">
            <a:avLst>
              <a:gd name="adj" fmla="val 50000"/>
            </a:avLst>
          </a:prstGeom>
          <a:solidFill>
            <a:srgbClr val="818CF8"/>
          </a:solidFill>
          <a:ln/>
        </p:spPr>
      </p:sp>
      <p:sp>
        <p:nvSpPr>
          <p:cNvPr id="36" name="Shape 34"/>
          <p:cNvSpPr/>
          <p:nvPr/>
        </p:nvSpPr>
        <p:spPr>
          <a:xfrm>
            <a:off x="566928" y="3566160"/>
            <a:ext cx="493776" cy="493776"/>
          </a:xfrm>
          <a:prstGeom prst="ellipse">
            <a:avLst/>
          </a:prstGeom>
          <a:solidFill>
            <a:srgbClr val="818CF8">
              <a:alpha val="80000"/>
            </a:srgbClr>
          </a:solidFill>
          <a:ln/>
        </p:spPr>
      </p:sp>
      <p:sp>
        <p:nvSpPr>
          <p:cNvPr id="37" name="Text 35"/>
          <p:cNvSpPr/>
          <p:nvPr/>
        </p:nvSpPr>
        <p:spPr>
          <a:xfrm>
            <a:off x="566928" y="3566160"/>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Text 36"/>
          <p:cNvSpPr/>
          <p:nvPr/>
        </p:nvSpPr>
        <p:spPr>
          <a:xfrm>
            <a:off x="1207008" y="3529584"/>
            <a:ext cx="3200400" cy="310896"/>
          </a:xfrm>
          <a:prstGeom prst="rect">
            <a:avLst/>
          </a:prstGeom>
          <a:noFill/>
          <a:ln/>
        </p:spPr>
        <p:txBody>
          <a:bodyPr wrap="square" lIns="0" tIns="0" rIns="0" bIns="0" rtlCol="0" anchor="ctr"/>
          <a:lstStyle/>
          <a:p>
            <a:pPr indent="0" marL="0">
              <a:buNone/>
            </a:pPr>
            <a:r>
              <a:rPr lang="en-US" sz="1300" b="1" dirty="0">
                <a:solidFill>
                  <a:srgbClr val="818CF8"/>
                </a:solidFill>
                <a:latin typeface="Calibri" pitchFamily="34" charset="0"/>
                <a:ea typeface="Calibri" pitchFamily="34" charset="-122"/>
                <a:cs typeface="Calibri" pitchFamily="34" charset="-120"/>
              </a:rPr>
              <a:t>Contactless &amp; Hygienic</a:t>
            </a:r>
            <a:endParaRPr lang="en-US" sz="1300" dirty="0"/>
          </a:p>
        </p:txBody>
      </p:sp>
      <p:sp>
        <p:nvSpPr>
          <p:cNvPr id="39" name="Text 37"/>
          <p:cNvSpPr/>
          <p:nvPr/>
        </p:nvSpPr>
        <p:spPr>
          <a:xfrm>
            <a:off x="1207008" y="3840480"/>
            <a:ext cx="475488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 physical contact — important for health-conscious campuses.</a:t>
            </a:r>
            <a:endParaRPr lang="en-US" sz="1000" dirty="0"/>
          </a:p>
        </p:txBody>
      </p:sp>
      <p:sp>
        <p:nvSpPr>
          <p:cNvPr id="40" name="Shape 38"/>
          <p:cNvSpPr/>
          <p:nvPr/>
        </p:nvSpPr>
        <p:spPr>
          <a:xfrm>
            <a:off x="6309360" y="3657600"/>
            <a:ext cx="2011680" cy="274320"/>
          </a:xfrm>
          <a:prstGeom prst="roundRect">
            <a:avLst>
              <a:gd name="adj" fmla="val 26667"/>
            </a:avLst>
          </a:prstGeom>
          <a:solidFill>
            <a:srgbClr val="0F172A"/>
          </a:solidFill>
          <a:ln/>
        </p:spPr>
      </p:sp>
      <p:sp>
        <p:nvSpPr>
          <p:cNvPr id="41" name="Shape 39"/>
          <p:cNvSpPr/>
          <p:nvPr/>
        </p:nvSpPr>
        <p:spPr>
          <a:xfrm>
            <a:off x="6309360" y="3657600"/>
            <a:ext cx="2011680" cy="274320"/>
          </a:xfrm>
          <a:prstGeom prst="roundRect">
            <a:avLst>
              <a:gd name="adj" fmla="val 26667"/>
            </a:avLst>
          </a:prstGeom>
          <a:solidFill>
            <a:srgbClr val="818CF8"/>
          </a:solidFill>
          <a:ln/>
        </p:spPr>
      </p:sp>
      <p:sp>
        <p:nvSpPr>
          <p:cNvPr id="42" name="Text 40"/>
          <p:cNvSpPr/>
          <p:nvPr/>
        </p:nvSpPr>
        <p:spPr>
          <a:xfrm>
            <a:off x="8366760" y="3657600"/>
            <a:ext cx="411480" cy="274320"/>
          </a:xfrm>
          <a:prstGeom prst="rect">
            <a:avLst/>
          </a:prstGeom>
          <a:noFill/>
          <a:ln/>
        </p:spPr>
        <p:txBody>
          <a:bodyPr wrap="square" lIns="0" tIns="0" rIns="0" bIns="0" rtlCol="0" anchor="ctr"/>
          <a:lstStyle/>
          <a:p>
            <a:pPr indent="0" marL="0">
              <a:buNone/>
            </a:pPr>
            <a:r>
              <a:rPr lang="en-US" sz="900" b="1" dirty="0">
                <a:solidFill>
                  <a:srgbClr val="818CF8"/>
                </a:solidFill>
              </a:rPr>
              <a:t>100%</a:t>
            </a:r>
            <a:endParaRPr lang="en-US" sz="900" dirty="0"/>
          </a:p>
        </p:txBody>
      </p:sp>
      <p:sp>
        <p:nvSpPr>
          <p:cNvPr id="43" name="Shape 41"/>
          <p:cNvSpPr/>
          <p:nvPr/>
        </p:nvSpPr>
        <p:spPr>
          <a:xfrm>
            <a:off x="365760" y="4279392"/>
            <a:ext cx="8412480" cy="713232"/>
          </a:xfrm>
          <a:prstGeom prst="roundRect">
            <a:avLst>
              <a:gd name="adj" fmla="val 15385"/>
            </a:avLst>
          </a:prstGeom>
          <a:solidFill>
            <a:srgbClr val="1E293B"/>
          </a:solidFill>
          <a:ln/>
          <a:effectLst>
            <a:outerShdw sx="100000" sy="100000" kx="0" ky="0" algn="bl" rotWithShape="0" blurRad="127000" dist="50800" dir="2700000">
              <a:srgbClr val="000000">
                <a:alpha val="35000"/>
              </a:srgbClr>
            </a:outerShdw>
          </a:effectLst>
        </p:spPr>
      </p:sp>
      <p:sp>
        <p:nvSpPr>
          <p:cNvPr id="44" name="Shape 42"/>
          <p:cNvSpPr/>
          <p:nvPr/>
        </p:nvSpPr>
        <p:spPr>
          <a:xfrm>
            <a:off x="365760" y="4279392"/>
            <a:ext cx="54864" cy="713232"/>
          </a:xfrm>
          <a:prstGeom prst="roundRect">
            <a:avLst>
              <a:gd name="adj" fmla="val 50000"/>
            </a:avLst>
          </a:prstGeom>
          <a:solidFill>
            <a:srgbClr val="1976D2"/>
          </a:solidFill>
          <a:ln/>
        </p:spPr>
      </p:sp>
      <p:sp>
        <p:nvSpPr>
          <p:cNvPr id="45" name="Shape 43"/>
          <p:cNvSpPr/>
          <p:nvPr/>
        </p:nvSpPr>
        <p:spPr>
          <a:xfrm>
            <a:off x="566928" y="4389120"/>
            <a:ext cx="493776" cy="493776"/>
          </a:xfrm>
          <a:prstGeom prst="ellipse">
            <a:avLst/>
          </a:prstGeom>
          <a:solidFill>
            <a:srgbClr val="1976D2">
              <a:alpha val="80000"/>
            </a:srgbClr>
          </a:solidFill>
          <a:ln/>
        </p:spPr>
      </p:sp>
      <p:sp>
        <p:nvSpPr>
          <p:cNvPr id="46" name="Text 44"/>
          <p:cNvSpPr/>
          <p:nvPr/>
        </p:nvSpPr>
        <p:spPr>
          <a:xfrm>
            <a:off x="566928" y="4389120"/>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7" name="Text 45"/>
          <p:cNvSpPr/>
          <p:nvPr/>
        </p:nvSpPr>
        <p:spPr>
          <a:xfrm>
            <a:off x="1207008" y="4352544"/>
            <a:ext cx="3200400" cy="310896"/>
          </a:xfrm>
          <a:prstGeom prst="rect">
            <a:avLst/>
          </a:prstGeom>
          <a:noFill/>
          <a:ln/>
        </p:spPr>
        <p:txBody>
          <a:bodyPr wrap="square" lIns="0" tIns="0" rIns="0" bIns="0" rtlCol="0" anchor="ctr"/>
          <a:lstStyle/>
          <a:p>
            <a:pPr indent="0" marL="0">
              <a:buNone/>
            </a:pPr>
            <a:r>
              <a:rPr lang="en-US" sz="1300" b="1" dirty="0">
                <a:solidFill>
                  <a:srgbClr val="1976D2"/>
                </a:solidFill>
                <a:latin typeface="Calibri" pitchFamily="34" charset="0"/>
                <a:ea typeface="Calibri" pitchFamily="34" charset="-122"/>
                <a:cs typeface="Calibri" pitchFamily="34" charset="-120"/>
              </a:rPr>
              <a:t>Better Record Management</a:t>
            </a:r>
            <a:endParaRPr lang="en-US" sz="1300" dirty="0"/>
          </a:p>
        </p:txBody>
      </p:sp>
      <p:sp>
        <p:nvSpPr>
          <p:cNvPr id="48" name="Text 46"/>
          <p:cNvSpPr/>
          <p:nvPr/>
        </p:nvSpPr>
        <p:spPr>
          <a:xfrm>
            <a:off x="1207008" y="4663440"/>
            <a:ext cx="475488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SQLite storage with CSV export makes reports instantly accessible.</a:t>
            </a:r>
            <a:endParaRPr lang="en-US" sz="1000" dirty="0"/>
          </a:p>
        </p:txBody>
      </p:sp>
      <p:sp>
        <p:nvSpPr>
          <p:cNvPr id="49" name="Shape 47"/>
          <p:cNvSpPr/>
          <p:nvPr/>
        </p:nvSpPr>
        <p:spPr>
          <a:xfrm>
            <a:off x="6309360" y="4480560"/>
            <a:ext cx="2011680" cy="274320"/>
          </a:xfrm>
          <a:prstGeom prst="roundRect">
            <a:avLst>
              <a:gd name="adj" fmla="val 26667"/>
            </a:avLst>
          </a:prstGeom>
          <a:solidFill>
            <a:srgbClr val="0F172A"/>
          </a:solidFill>
          <a:ln/>
        </p:spPr>
      </p:sp>
      <p:sp>
        <p:nvSpPr>
          <p:cNvPr id="50" name="Shape 48"/>
          <p:cNvSpPr/>
          <p:nvPr/>
        </p:nvSpPr>
        <p:spPr>
          <a:xfrm>
            <a:off x="6309360" y="4480560"/>
            <a:ext cx="1911096" cy="274320"/>
          </a:xfrm>
          <a:prstGeom prst="roundRect">
            <a:avLst>
              <a:gd name="adj" fmla="val 26667"/>
            </a:avLst>
          </a:prstGeom>
          <a:solidFill>
            <a:srgbClr val="1976D2"/>
          </a:solidFill>
          <a:ln/>
        </p:spPr>
      </p:sp>
      <p:sp>
        <p:nvSpPr>
          <p:cNvPr id="51" name="Text 49"/>
          <p:cNvSpPr/>
          <p:nvPr/>
        </p:nvSpPr>
        <p:spPr>
          <a:xfrm>
            <a:off x="8366760" y="4480560"/>
            <a:ext cx="411480" cy="274320"/>
          </a:xfrm>
          <a:prstGeom prst="rect">
            <a:avLst/>
          </a:prstGeom>
          <a:noFill/>
          <a:ln/>
        </p:spPr>
        <p:txBody>
          <a:bodyPr wrap="square" lIns="0" tIns="0" rIns="0" bIns="0" rtlCol="0" anchor="ctr"/>
          <a:lstStyle/>
          <a:p>
            <a:pPr indent="0" marL="0">
              <a:buNone/>
            </a:pPr>
            <a:r>
              <a:rPr lang="en-US" sz="900" b="1" dirty="0">
                <a:solidFill>
                  <a:srgbClr val="1976D2"/>
                </a:solidFill>
              </a:rPr>
              <a:t>95%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818CF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13  FUTURE SCOPE</a:t>
            </a:r>
            <a:endParaRPr lang="en-US" sz="2600" dirty="0"/>
          </a:p>
        </p:txBody>
      </p:sp>
      <p:sp>
        <p:nvSpPr>
          <p:cNvPr id="5" name="Shape 3"/>
          <p:cNvSpPr/>
          <p:nvPr/>
        </p:nvSpPr>
        <p:spPr>
          <a:xfrm>
            <a:off x="0" y="850392"/>
            <a:ext cx="9144000" cy="36576"/>
          </a:xfrm>
          <a:prstGeom prst="rect">
            <a:avLst/>
          </a:prstGeom>
          <a:solidFill>
            <a:srgbClr val="818CF8">
              <a:alpha val="40000"/>
            </a:srgbClr>
          </a:solidFill>
          <a:ln/>
        </p:spPr>
      </p:sp>
      <p:sp>
        <p:nvSpPr>
          <p:cNvPr id="6" name="Shape 4"/>
          <p:cNvSpPr/>
          <p:nvPr/>
        </p:nvSpPr>
        <p:spPr>
          <a:xfrm>
            <a:off x="8732520" y="201168"/>
            <a:ext cx="256032" cy="256032"/>
          </a:xfrm>
          <a:prstGeom prst="ellipse">
            <a:avLst/>
          </a:prstGeom>
          <a:solidFill>
            <a:srgbClr val="818CF8">
              <a:alpha val="70000"/>
            </a:srgbClr>
          </a:solidFill>
          <a:ln/>
        </p:spPr>
      </p:sp>
      <p:sp>
        <p:nvSpPr>
          <p:cNvPr id="7" name="Shape 5"/>
          <p:cNvSpPr/>
          <p:nvPr/>
        </p:nvSpPr>
        <p:spPr>
          <a:xfrm>
            <a:off x="320040" y="100584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20040" y="1005840"/>
            <a:ext cx="54864" cy="1691640"/>
          </a:xfrm>
          <a:prstGeom prst="roundRect">
            <a:avLst>
              <a:gd name="adj" fmla="val 50000"/>
            </a:avLst>
          </a:prstGeom>
          <a:solidFill>
            <a:srgbClr val="00B4D8"/>
          </a:solidFill>
          <a:ln/>
        </p:spPr>
      </p:sp>
      <p:sp>
        <p:nvSpPr>
          <p:cNvPr id="9" name="Shape 7"/>
          <p:cNvSpPr/>
          <p:nvPr/>
        </p:nvSpPr>
        <p:spPr>
          <a:xfrm>
            <a:off x="484632" y="1188720"/>
            <a:ext cx="621792" cy="621792"/>
          </a:xfrm>
          <a:prstGeom prst="ellipse">
            <a:avLst/>
          </a:prstGeom>
          <a:solidFill>
            <a:srgbClr val="00B4D8">
              <a:alpha val="82000"/>
            </a:srgbClr>
          </a:solidFill>
          <a:ln/>
        </p:spPr>
      </p:sp>
      <p:sp>
        <p:nvSpPr>
          <p:cNvPr id="10" name="Text 8"/>
          <p:cNvSpPr/>
          <p:nvPr/>
        </p:nvSpPr>
        <p:spPr>
          <a:xfrm>
            <a:off x="484632" y="1188720"/>
            <a:ext cx="621792" cy="62179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280160" y="1207008"/>
            <a:ext cx="1664208" cy="438912"/>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Cloud Database</a:t>
            </a:r>
            <a:endParaRPr lang="en-US" sz="1200" dirty="0"/>
          </a:p>
        </p:txBody>
      </p:sp>
      <p:sp>
        <p:nvSpPr>
          <p:cNvPr id="12" name="Text 10"/>
          <p:cNvSpPr/>
          <p:nvPr/>
        </p:nvSpPr>
        <p:spPr>
          <a:xfrm>
            <a:off x="484632" y="1965960"/>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Migrate SQLite to Firebase or AWS RDS for multi-device real-time sync.</a:t>
            </a:r>
            <a:endParaRPr lang="en-US" sz="950" dirty="0"/>
          </a:p>
        </p:txBody>
      </p:sp>
      <p:sp>
        <p:nvSpPr>
          <p:cNvPr id="13" name="Shape 11"/>
          <p:cNvSpPr/>
          <p:nvPr/>
        </p:nvSpPr>
        <p:spPr>
          <a:xfrm>
            <a:off x="3246120" y="100584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14" name="Shape 12"/>
          <p:cNvSpPr/>
          <p:nvPr/>
        </p:nvSpPr>
        <p:spPr>
          <a:xfrm>
            <a:off x="3246120" y="1005840"/>
            <a:ext cx="54864" cy="1691640"/>
          </a:xfrm>
          <a:prstGeom prst="roundRect">
            <a:avLst>
              <a:gd name="adj" fmla="val 50000"/>
            </a:avLst>
          </a:prstGeom>
          <a:solidFill>
            <a:srgbClr val="1976D2"/>
          </a:solidFill>
          <a:ln/>
        </p:spPr>
      </p:sp>
      <p:sp>
        <p:nvSpPr>
          <p:cNvPr id="15" name="Shape 13"/>
          <p:cNvSpPr/>
          <p:nvPr/>
        </p:nvSpPr>
        <p:spPr>
          <a:xfrm>
            <a:off x="3410712" y="1188720"/>
            <a:ext cx="621792" cy="621792"/>
          </a:xfrm>
          <a:prstGeom prst="ellipse">
            <a:avLst/>
          </a:prstGeom>
          <a:solidFill>
            <a:srgbClr val="1976D2">
              <a:alpha val="82000"/>
            </a:srgbClr>
          </a:solidFill>
          <a:ln/>
        </p:spPr>
      </p:sp>
      <p:sp>
        <p:nvSpPr>
          <p:cNvPr id="16" name="Text 14"/>
          <p:cNvSpPr/>
          <p:nvPr/>
        </p:nvSpPr>
        <p:spPr>
          <a:xfrm>
            <a:off x="3410712" y="1188720"/>
            <a:ext cx="621792" cy="62179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4206240" y="1207008"/>
            <a:ext cx="1664208" cy="438912"/>
          </a:xfrm>
          <a:prstGeom prst="rect">
            <a:avLst/>
          </a:prstGeom>
          <a:noFill/>
          <a:ln/>
        </p:spPr>
        <p:txBody>
          <a:bodyPr wrap="square" lIns="0" tIns="0" rIns="0" bIns="0" rtlCol="0" anchor="ctr"/>
          <a:lstStyle/>
          <a:p>
            <a:pPr indent="0" marL="0">
              <a:buNone/>
            </a:pPr>
            <a:r>
              <a:rPr lang="en-US" sz="1200" b="1" dirty="0">
                <a:solidFill>
                  <a:srgbClr val="1976D2"/>
                </a:solidFill>
                <a:latin typeface="Calibri" pitchFamily="34" charset="0"/>
                <a:ea typeface="Calibri" pitchFamily="34" charset="-122"/>
                <a:cs typeface="Calibri" pitchFamily="34" charset="-120"/>
              </a:rPr>
              <a:t>Mobile Application</a:t>
            </a:r>
            <a:endParaRPr lang="en-US" sz="1200" dirty="0"/>
          </a:p>
        </p:txBody>
      </p:sp>
      <p:sp>
        <p:nvSpPr>
          <p:cNvPr id="18" name="Text 16"/>
          <p:cNvSpPr/>
          <p:nvPr/>
        </p:nvSpPr>
        <p:spPr>
          <a:xfrm>
            <a:off x="3410712" y="1965960"/>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Android/iOS app for faculty attendance monitoring from anywhere.</a:t>
            </a:r>
            <a:endParaRPr lang="en-US" sz="950" dirty="0"/>
          </a:p>
        </p:txBody>
      </p:sp>
      <p:sp>
        <p:nvSpPr>
          <p:cNvPr id="19" name="Shape 17"/>
          <p:cNvSpPr/>
          <p:nvPr/>
        </p:nvSpPr>
        <p:spPr>
          <a:xfrm>
            <a:off x="6172200" y="100584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20" name="Shape 18"/>
          <p:cNvSpPr/>
          <p:nvPr/>
        </p:nvSpPr>
        <p:spPr>
          <a:xfrm>
            <a:off x="6172200" y="1005840"/>
            <a:ext cx="54864" cy="1691640"/>
          </a:xfrm>
          <a:prstGeom prst="roundRect">
            <a:avLst>
              <a:gd name="adj" fmla="val 50000"/>
            </a:avLst>
          </a:prstGeom>
          <a:solidFill>
            <a:srgbClr val="818CF8"/>
          </a:solidFill>
          <a:ln/>
        </p:spPr>
      </p:sp>
      <p:sp>
        <p:nvSpPr>
          <p:cNvPr id="21" name="Shape 19"/>
          <p:cNvSpPr/>
          <p:nvPr/>
        </p:nvSpPr>
        <p:spPr>
          <a:xfrm>
            <a:off x="6336792" y="1188720"/>
            <a:ext cx="621792" cy="621792"/>
          </a:xfrm>
          <a:prstGeom prst="ellipse">
            <a:avLst/>
          </a:prstGeom>
          <a:solidFill>
            <a:srgbClr val="818CF8">
              <a:alpha val="82000"/>
            </a:srgbClr>
          </a:solidFill>
          <a:ln/>
        </p:spPr>
      </p:sp>
      <p:sp>
        <p:nvSpPr>
          <p:cNvPr id="22" name="Text 20"/>
          <p:cNvSpPr/>
          <p:nvPr/>
        </p:nvSpPr>
        <p:spPr>
          <a:xfrm>
            <a:off x="6336792" y="1188720"/>
            <a:ext cx="621792" cy="62179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7132320" y="1207008"/>
            <a:ext cx="1664208" cy="438912"/>
          </a:xfrm>
          <a:prstGeom prst="rect">
            <a:avLst/>
          </a:prstGeom>
          <a:noFill/>
          <a:ln/>
        </p:spPr>
        <p:txBody>
          <a:bodyPr wrap="square" lIns="0" tIns="0" rIns="0" bIns="0" rtlCol="0" anchor="ctr"/>
          <a:lstStyle/>
          <a:p>
            <a:pPr indent="0" marL="0">
              <a:buNone/>
            </a:pPr>
            <a:r>
              <a:rPr lang="en-US" sz="1200" b="1" dirty="0">
                <a:solidFill>
                  <a:srgbClr val="818CF8"/>
                </a:solidFill>
                <a:latin typeface="Calibri" pitchFamily="34" charset="0"/>
                <a:ea typeface="Calibri" pitchFamily="34" charset="-122"/>
                <a:cs typeface="Calibri" pitchFamily="34" charset="-120"/>
              </a:rPr>
              <a:t>AI Analytics Dashboard</a:t>
            </a:r>
            <a:endParaRPr lang="en-US" sz="1200" dirty="0"/>
          </a:p>
        </p:txBody>
      </p:sp>
      <p:sp>
        <p:nvSpPr>
          <p:cNvPr id="24" name="Text 22"/>
          <p:cNvSpPr/>
          <p:nvPr/>
        </p:nvSpPr>
        <p:spPr>
          <a:xfrm>
            <a:off x="6336792" y="1965960"/>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ML-powered insights: absenteeism trends, alerts, and predictive analytics.</a:t>
            </a:r>
            <a:endParaRPr lang="en-US" sz="950" dirty="0"/>
          </a:p>
        </p:txBody>
      </p:sp>
      <p:sp>
        <p:nvSpPr>
          <p:cNvPr id="25" name="Shape 23"/>
          <p:cNvSpPr/>
          <p:nvPr/>
        </p:nvSpPr>
        <p:spPr>
          <a:xfrm>
            <a:off x="320040" y="288036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26" name="Shape 24"/>
          <p:cNvSpPr/>
          <p:nvPr/>
        </p:nvSpPr>
        <p:spPr>
          <a:xfrm>
            <a:off x="320040" y="2880360"/>
            <a:ext cx="54864" cy="1691640"/>
          </a:xfrm>
          <a:prstGeom prst="roundRect">
            <a:avLst>
              <a:gd name="adj" fmla="val 50000"/>
            </a:avLst>
          </a:prstGeom>
          <a:solidFill>
            <a:srgbClr val="F59E0B"/>
          </a:solidFill>
          <a:ln/>
        </p:spPr>
      </p:sp>
      <p:sp>
        <p:nvSpPr>
          <p:cNvPr id="27" name="Shape 25"/>
          <p:cNvSpPr/>
          <p:nvPr/>
        </p:nvSpPr>
        <p:spPr>
          <a:xfrm>
            <a:off x="484632" y="3063240"/>
            <a:ext cx="621792" cy="621792"/>
          </a:xfrm>
          <a:prstGeom prst="ellipse">
            <a:avLst/>
          </a:prstGeom>
          <a:solidFill>
            <a:srgbClr val="F59E0B">
              <a:alpha val="82000"/>
            </a:srgbClr>
          </a:solidFill>
          <a:ln/>
        </p:spPr>
      </p:sp>
      <p:sp>
        <p:nvSpPr>
          <p:cNvPr id="28" name="Text 26"/>
          <p:cNvSpPr/>
          <p:nvPr/>
        </p:nvSpPr>
        <p:spPr>
          <a:xfrm>
            <a:off x="484632" y="3063240"/>
            <a:ext cx="621792" cy="62179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9" name="Text 27"/>
          <p:cNvSpPr/>
          <p:nvPr/>
        </p:nvSpPr>
        <p:spPr>
          <a:xfrm>
            <a:off x="1280160" y="3081528"/>
            <a:ext cx="1664208" cy="43891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Multi-Camera Support</a:t>
            </a:r>
            <a:endParaRPr lang="en-US" sz="1200" dirty="0"/>
          </a:p>
        </p:txBody>
      </p:sp>
      <p:sp>
        <p:nvSpPr>
          <p:cNvPr id="30" name="Text 28"/>
          <p:cNvSpPr/>
          <p:nvPr/>
        </p:nvSpPr>
        <p:spPr>
          <a:xfrm>
            <a:off x="484632" y="3840480"/>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Scale to multiple simultaneous feeds for large lecture halls and auditoriums.</a:t>
            </a:r>
            <a:endParaRPr lang="en-US" sz="950" dirty="0"/>
          </a:p>
        </p:txBody>
      </p:sp>
      <p:sp>
        <p:nvSpPr>
          <p:cNvPr id="31" name="Shape 29"/>
          <p:cNvSpPr/>
          <p:nvPr/>
        </p:nvSpPr>
        <p:spPr>
          <a:xfrm>
            <a:off x="3246120" y="288036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32" name="Shape 30"/>
          <p:cNvSpPr/>
          <p:nvPr/>
        </p:nvSpPr>
        <p:spPr>
          <a:xfrm>
            <a:off x="3246120" y="2880360"/>
            <a:ext cx="54864" cy="1691640"/>
          </a:xfrm>
          <a:prstGeom prst="roundRect">
            <a:avLst>
              <a:gd name="adj" fmla="val 50000"/>
            </a:avLst>
          </a:prstGeom>
          <a:solidFill>
            <a:srgbClr val="EF4444"/>
          </a:solidFill>
          <a:ln/>
        </p:spPr>
      </p:sp>
      <p:sp>
        <p:nvSpPr>
          <p:cNvPr id="33" name="Shape 31"/>
          <p:cNvSpPr/>
          <p:nvPr/>
        </p:nvSpPr>
        <p:spPr>
          <a:xfrm>
            <a:off x="3410712" y="3063240"/>
            <a:ext cx="621792" cy="621792"/>
          </a:xfrm>
          <a:prstGeom prst="ellipse">
            <a:avLst/>
          </a:prstGeom>
          <a:solidFill>
            <a:srgbClr val="EF4444">
              <a:alpha val="82000"/>
            </a:srgbClr>
          </a:solidFill>
          <a:ln/>
        </p:spPr>
      </p:sp>
      <p:sp>
        <p:nvSpPr>
          <p:cNvPr id="34" name="Text 32"/>
          <p:cNvSpPr/>
          <p:nvPr/>
        </p:nvSpPr>
        <p:spPr>
          <a:xfrm>
            <a:off x="3410712" y="3063240"/>
            <a:ext cx="621792" cy="62179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5" name="Text 33"/>
          <p:cNvSpPr/>
          <p:nvPr/>
        </p:nvSpPr>
        <p:spPr>
          <a:xfrm>
            <a:off x="4206240" y="3081528"/>
            <a:ext cx="1664208" cy="438912"/>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Admin Authentication</a:t>
            </a:r>
            <a:endParaRPr lang="en-US" sz="1200" dirty="0"/>
          </a:p>
        </p:txBody>
      </p:sp>
      <p:sp>
        <p:nvSpPr>
          <p:cNvPr id="36" name="Text 34"/>
          <p:cNvSpPr/>
          <p:nvPr/>
        </p:nvSpPr>
        <p:spPr>
          <a:xfrm>
            <a:off x="3410712" y="3840480"/>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Secure admin login system protecting registration and attendance management.</a:t>
            </a:r>
            <a:endParaRPr lang="en-US" sz="950" dirty="0"/>
          </a:p>
        </p:txBody>
      </p:sp>
      <p:sp>
        <p:nvSpPr>
          <p:cNvPr id="37" name="Shape 35"/>
          <p:cNvSpPr/>
          <p:nvPr/>
        </p:nvSpPr>
        <p:spPr>
          <a:xfrm>
            <a:off x="6172200" y="2880360"/>
            <a:ext cx="2743200" cy="1691640"/>
          </a:xfrm>
          <a:prstGeom prst="roundRect">
            <a:avLst>
              <a:gd name="adj" fmla="val 6486"/>
            </a:avLst>
          </a:prstGeom>
          <a:solidFill>
            <a:srgbClr val="1E293B"/>
          </a:solidFill>
          <a:ln/>
          <a:effectLst>
            <a:outerShdw sx="100000" sy="100000" kx="0" ky="0" algn="bl" rotWithShape="0" blurRad="127000" dist="50800" dir="2700000">
              <a:srgbClr val="000000">
                <a:alpha val="35000"/>
              </a:srgbClr>
            </a:outerShdw>
          </a:effectLst>
        </p:spPr>
      </p:sp>
      <p:sp>
        <p:nvSpPr>
          <p:cNvPr id="38" name="Shape 36"/>
          <p:cNvSpPr/>
          <p:nvPr/>
        </p:nvSpPr>
        <p:spPr>
          <a:xfrm>
            <a:off x="6172200" y="2880360"/>
            <a:ext cx="54864" cy="1691640"/>
          </a:xfrm>
          <a:prstGeom prst="roundRect">
            <a:avLst>
              <a:gd name="adj" fmla="val 50000"/>
            </a:avLst>
          </a:prstGeom>
          <a:solidFill>
            <a:srgbClr val="10B981"/>
          </a:solidFill>
          <a:ln/>
        </p:spPr>
      </p:sp>
      <p:sp>
        <p:nvSpPr>
          <p:cNvPr id="39" name="Shape 37"/>
          <p:cNvSpPr/>
          <p:nvPr/>
        </p:nvSpPr>
        <p:spPr>
          <a:xfrm>
            <a:off x="6336792" y="3063240"/>
            <a:ext cx="621792" cy="621792"/>
          </a:xfrm>
          <a:prstGeom prst="ellipse">
            <a:avLst/>
          </a:prstGeom>
          <a:solidFill>
            <a:srgbClr val="10B981">
              <a:alpha val="82000"/>
            </a:srgbClr>
          </a:solidFill>
          <a:ln/>
        </p:spPr>
      </p:sp>
      <p:sp>
        <p:nvSpPr>
          <p:cNvPr id="40" name="Text 38"/>
          <p:cNvSpPr/>
          <p:nvPr/>
        </p:nvSpPr>
        <p:spPr>
          <a:xfrm>
            <a:off x="6336792" y="3063240"/>
            <a:ext cx="621792" cy="62179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41" name="Text 39"/>
          <p:cNvSpPr/>
          <p:nvPr/>
        </p:nvSpPr>
        <p:spPr>
          <a:xfrm>
            <a:off x="7132320" y="3081528"/>
            <a:ext cx="1664208" cy="438912"/>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Institution-Wide Deploy</a:t>
            </a:r>
            <a:endParaRPr lang="en-US" sz="1200" dirty="0"/>
          </a:p>
        </p:txBody>
      </p:sp>
      <p:sp>
        <p:nvSpPr>
          <p:cNvPr id="42" name="Text 40"/>
          <p:cNvSpPr/>
          <p:nvPr/>
        </p:nvSpPr>
        <p:spPr>
          <a:xfrm>
            <a:off x="6336792" y="3840480"/>
            <a:ext cx="242316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Integration with university ERP systems for automated campus-wide attendance.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11827"/>
          </a:solidFill>
          <a:ln/>
        </p:spPr>
      </p:sp>
      <p:sp>
        <p:nvSpPr>
          <p:cNvPr id="3" name="Shape 1"/>
          <p:cNvSpPr/>
          <p:nvPr/>
        </p:nvSpPr>
        <p:spPr>
          <a:xfrm>
            <a:off x="0" y="0"/>
            <a:ext cx="64008" cy="868680"/>
          </a:xfrm>
          <a:prstGeom prst="rect">
            <a:avLst/>
          </a:prstGeom>
          <a:solidFill>
            <a:srgbClr val="38BDF8"/>
          </a:solidFill>
          <a:ln/>
        </p:spPr>
      </p:sp>
      <p:sp>
        <p:nvSpPr>
          <p:cNvPr id="4" name="Text 2"/>
          <p:cNvSpPr/>
          <p:nvPr/>
        </p:nvSpPr>
        <p:spPr>
          <a:xfrm>
            <a:off x="228600" y="0"/>
            <a:ext cx="8686800" cy="8686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14  CONCLUSION</a:t>
            </a:r>
            <a:endParaRPr lang="en-US" sz="2600" dirty="0"/>
          </a:p>
        </p:txBody>
      </p:sp>
      <p:sp>
        <p:nvSpPr>
          <p:cNvPr id="5" name="Shape 3"/>
          <p:cNvSpPr/>
          <p:nvPr/>
        </p:nvSpPr>
        <p:spPr>
          <a:xfrm>
            <a:off x="0" y="850392"/>
            <a:ext cx="9144000" cy="36576"/>
          </a:xfrm>
          <a:prstGeom prst="rect">
            <a:avLst/>
          </a:prstGeom>
          <a:solidFill>
            <a:srgbClr val="38BDF8">
              <a:alpha val="40000"/>
            </a:srgbClr>
          </a:solidFill>
          <a:ln/>
        </p:spPr>
      </p:sp>
      <p:sp>
        <p:nvSpPr>
          <p:cNvPr id="6" name="Shape 4"/>
          <p:cNvSpPr/>
          <p:nvPr/>
        </p:nvSpPr>
        <p:spPr>
          <a:xfrm>
            <a:off x="8732520" y="201168"/>
            <a:ext cx="256032" cy="256032"/>
          </a:xfrm>
          <a:prstGeom prst="ellipse">
            <a:avLst/>
          </a:prstGeom>
          <a:solidFill>
            <a:srgbClr val="38BDF8">
              <a:alpha val="70000"/>
            </a:srgbClr>
          </a:solidFill>
          <a:ln/>
        </p:spPr>
      </p:sp>
      <p:sp>
        <p:nvSpPr>
          <p:cNvPr id="7" name="Shape 5"/>
          <p:cNvSpPr/>
          <p:nvPr/>
        </p:nvSpPr>
        <p:spPr>
          <a:xfrm>
            <a:off x="365760" y="987552"/>
            <a:ext cx="8412480" cy="1371600"/>
          </a:xfrm>
          <a:prstGeom prst="roundRect">
            <a:avLst>
              <a:gd name="adj" fmla="val 8000"/>
            </a:avLst>
          </a:prstGeom>
          <a:solidFill>
            <a:srgbClr val="1E293B"/>
          </a:solidFill>
          <a:ln/>
          <a:effectLst>
            <a:outerShdw sx="100000" sy="100000" kx="0" ky="0" algn="bl" rotWithShape="0" blurRad="127000" dist="50800" dir="2700000">
              <a:srgbClr val="000000">
                <a:alpha val="35000"/>
              </a:srgbClr>
            </a:outerShdw>
          </a:effectLst>
        </p:spPr>
      </p:sp>
      <p:sp>
        <p:nvSpPr>
          <p:cNvPr id="8" name="Shape 6"/>
          <p:cNvSpPr/>
          <p:nvPr/>
        </p:nvSpPr>
        <p:spPr>
          <a:xfrm>
            <a:off x="365760" y="987552"/>
            <a:ext cx="54864" cy="1371600"/>
          </a:xfrm>
          <a:prstGeom prst="roundRect">
            <a:avLst>
              <a:gd name="adj" fmla="val 50000"/>
            </a:avLst>
          </a:prstGeom>
          <a:solidFill>
            <a:srgbClr val="38BDF8"/>
          </a:solidFill>
          <a:ln/>
        </p:spPr>
      </p:sp>
      <p:sp>
        <p:nvSpPr>
          <p:cNvPr id="9" name="Text 7"/>
          <p:cNvSpPr/>
          <p:nvPr/>
        </p:nvSpPr>
        <p:spPr>
          <a:xfrm>
            <a:off x="594360" y="1060704"/>
            <a:ext cx="8001000" cy="1207008"/>
          </a:xfrm>
          <a:prstGeom prst="rect">
            <a:avLst/>
          </a:prstGeom>
          <a:noFill/>
          <a:ln/>
        </p:spPr>
        <p:txBody>
          <a:bodyPr wrap="square" lIns="0" tIns="0" rIns="0" bIns="0" rtlCol="0" anchor="ctr"/>
          <a:lstStyle/>
          <a:p>
            <a:pPr indent="0" marL="0">
              <a:buNone/>
            </a:pPr>
            <a:r>
              <a:rPr lang="en-US" sz="1100" dirty="0">
                <a:solidFill>
                  <a:srgbClr val="E3F2FD"/>
                </a:solidFill>
                <a:latin typeface="Calibri" pitchFamily="34" charset="0"/>
                <a:ea typeface="Calibri" pitchFamily="34" charset="-122"/>
                <a:cs typeface="Calibri" pitchFamily="34" charset="-120"/>
              </a:rPr>
              <a:t>The AI-Powered Face Attendance System successfully demonstrates how modern Artificial Intelligence and Computer Vision can eliminate traditional attendance challenges. By combining DeepFace's Facenet512 model with OpenCV, Python, and SQLite, the system delivers fast, accurate, and contactless attendance marking — significantly reducing manual effort, preventing proxy attendance, and providing digital record management for academic institutions.</a:t>
            </a:r>
            <a:endParaRPr lang="en-US" sz="1100" dirty="0"/>
          </a:p>
        </p:txBody>
      </p:sp>
      <p:sp>
        <p:nvSpPr>
          <p:cNvPr id="10" name="Shape 8"/>
          <p:cNvSpPr/>
          <p:nvPr/>
        </p:nvSpPr>
        <p:spPr>
          <a:xfrm>
            <a:off x="365760" y="2514600"/>
            <a:ext cx="4160520" cy="1005840"/>
          </a:xfrm>
          <a:prstGeom prst="roundRect">
            <a:avLst>
              <a:gd name="adj" fmla="val 10909"/>
            </a:avLst>
          </a:prstGeom>
          <a:solidFill>
            <a:srgbClr val="1E293B"/>
          </a:solidFill>
          <a:ln/>
          <a:effectLst>
            <a:outerShdw sx="100000" sy="100000" kx="0" ky="0" algn="bl" rotWithShape="0" blurRad="127000" dist="50800" dir="2700000">
              <a:srgbClr val="000000">
                <a:alpha val="35000"/>
              </a:srgbClr>
            </a:outerShdw>
          </a:effectLst>
        </p:spPr>
      </p:sp>
      <p:sp>
        <p:nvSpPr>
          <p:cNvPr id="11" name="Shape 9"/>
          <p:cNvSpPr/>
          <p:nvPr/>
        </p:nvSpPr>
        <p:spPr>
          <a:xfrm>
            <a:off x="365760" y="2514600"/>
            <a:ext cx="54864" cy="1005840"/>
          </a:xfrm>
          <a:prstGeom prst="roundRect">
            <a:avLst>
              <a:gd name="adj" fmla="val 50000"/>
            </a:avLst>
          </a:prstGeom>
          <a:solidFill>
            <a:srgbClr val="38BDF8"/>
          </a:solidFill>
          <a:ln/>
        </p:spPr>
      </p:sp>
      <p:sp>
        <p:nvSpPr>
          <p:cNvPr id="12" name="Shape 10"/>
          <p:cNvSpPr/>
          <p:nvPr/>
        </p:nvSpPr>
        <p:spPr>
          <a:xfrm>
            <a:off x="530352" y="2697480"/>
            <a:ext cx="621792" cy="621792"/>
          </a:xfrm>
          <a:prstGeom prst="ellipse">
            <a:avLst/>
          </a:prstGeom>
          <a:solidFill>
            <a:srgbClr val="38BDF8">
              <a:alpha val="80000"/>
            </a:srgbClr>
          </a:solidFill>
          <a:ln/>
        </p:spPr>
      </p:sp>
      <p:sp>
        <p:nvSpPr>
          <p:cNvPr id="13" name="Text 11"/>
          <p:cNvSpPr/>
          <p:nvPr/>
        </p:nvSpPr>
        <p:spPr>
          <a:xfrm>
            <a:off x="530352" y="2697480"/>
            <a:ext cx="621792" cy="621792"/>
          </a:xfrm>
          <a:prstGeom prst="rect">
            <a:avLst/>
          </a:prstGeom>
          <a:noFill/>
          <a:ln/>
        </p:spPr>
        <p:txBody>
          <a:bodyPr wrap="square" lIns="0" tIns="0" rIns="0" bIns="0" rtlCol="0" anchor="ctr"/>
          <a:lstStyle/>
          <a:p>
            <a:pPr algn="ctr" indent="0" marL="0">
              <a:buNone/>
            </a:pPr>
            <a:r>
              <a:rPr lang="en-US" sz="2500" dirty="0">
                <a:solidFill>
                  <a:srgbClr val="000000"/>
                </a:solidFill>
              </a:rPr>
              <a:t>🤖</a:t>
            </a:r>
            <a:endParaRPr lang="en-US" sz="2500" dirty="0"/>
          </a:p>
        </p:txBody>
      </p:sp>
      <p:sp>
        <p:nvSpPr>
          <p:cNvPr id="14" name="Text 12"/>
          <p:cNvSpPr/>
          <p:nvPr/>
        </p:nvSpPr>
        <p:spPr>
          <a:xfrm>
            <a:off x="1298448" y="2697480"/>
            <a:ext cx="3090672"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DeepFace AI automates what took 10+ minutes manually</a:t>
            </a:r>
            <a:endParaRPr lang="en-US" sz="1100" dirty="0"/>
          </a:p>
        </p:txBody>
      </p:sp>
      <p:sp>
        <p:nvSpPr>
          <p:cNvPr id="15" name="Shape 13"/>
          <p:cNvSpPr/>
          <p:nvPr/>
        </p:nvSpPr>
        <p:spPr>
          <a:xfrm>
            <a:off x="4800600" y="2514600"/>
            <a:ext cx="4160520" cy="1005840"/>
          </a:xfrm>
          <a:prstGeom prst="roundRect">
            <a:avLst>
              <a:gd name="adj" fmla="val 10909"/>
            </a:avLst>
          </a:prstGeom>
          <a:solidFill>
            <a:srgbClr val="1E293B"/>
          </a:solidFill>
          <a:ln/>
          <a:effectLst>
            <a:outerShdw sx="100000" sy="100000" kx="0" ky="0" algn="bl" rotWithShape="0" blurRad="127000" dist="50800" dir="2700000">
              <a:srgbClr val="000000">
                <a:alpha val="35000"/>
              </a:srgbClr>
            </a:outerShdw>
          </a:effectLst>
        </p:spPr>
      </p:sp>
      <p:sp>
        <p:nvSpPr>
          <p:cNvPr id="16" name="Shape 14"/>
          <p:cNvSpPr/>
          <p:nvPr/>
        </p:nvSpPr>
        <p:spPr>
          <a:xfrm>
            <a:off x="4800600" y="2514600"/>
            <a:ext cx="54864" cy="1005840"/>
          </a:xfrm>
          <a:prstGeom prst="roundRect">
            <a:avLst>
              <a:gd name="adj" fmla="val 50000"/>
            </a:avLst>
          </a:prstGeom>
          <a:solidFill>
            <a:srgbClr val="10B981"/>
          </a:solidFill>
          <a:ln/>
        </p:spPr>
      </p:sp>
      <p:sp>
        <p:nvSpPr>
          <p:cNvPr id="17" name="Shape 15"/>
          <p:cNvSpPr/>
          <p:nvPr/>
        </p:nvSpPr>
        <p:spPr>
          <a:xfrm>
            <a:off x="4965192" y="2697480"/>
            <a:ext cx="621792" cy="621792"/>
          </a:xfrm>
          <a:prstGeom prst="ellipse">
            <a:avLst/>
          </a:prstGeom>
          <a:solidFill>
            <a:srgbClr val="10B981">
              <a:alpha val="80000"/>
            </a:srgbClr>
          </a:solidFill>
          <a:ln/>
        </p:spPr>
      </p:sp>
      <p:sp>
        <p:nvSpPr>
          <p:cNvPr id="18" name="Text 16"/>
          <p:cNvSpPr/>
          <p:nvPr/>
        </p:nvSpPr>
        <p:spPr>
          <a:xfrm>
            <a:off x="4965192" y="2697480"/>
            <a:ext cx="621792" cy="621792"/>
          </a:xfrm>
          <a:prstGeom prst="rect">
            <a:avLst/>
          </a:prstGeom>
          <a:noFill/>
          <a:ln/>
        </p:spPr>
        <p:txBody>
          <a:bodyPr wrap="square" lIns="0" tIns="0" rIns="0" bIns="0" rtlCol="0" anchor="ctr"/>
          <a:lstStyle/>
          <a:p>
            <a:pPr algn="ctr" indent="0" marL="0">
              <a:buNone/>
            </a:pPr>
            <a:r>
              <a:rPr lang="en-US" sz="2500" dirty="0">
                <a:solidFill>
                  <a:srgbClr val="000000"/>
                </a:solidFill>
              </a:rPr>
              <a:t>🎯</a:t>
            </a:r>
            <a:endParaRPr lang="en-US" sz="2500" dirty="0"/>
          </a:p>
        </p:txBody>
      </p:sp>
      <p:sp>
        <p:nvSpPr>
          <p:cNvPr id="19" name="Text 17"/>
          <p:cNvSpPr/>
          <p:nvPr/>
        </p:nvSpPr>
        <p:spPr>
          <a:xfrm>
            <a:off x="5733288" y="2697480"/>
            <a:ext cx="3090672"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128D Facenet512 embeddings ensure high-accuracy recognition</a:t>
            </a:r>
            <a:endParaRPr lang="en-US" sz="1100" dirty="0"/>
          </a:p>
        </p:txBody>
      </p:sp>
      <p:sp>
        <p:nvSpPr>
          <p:cNvPr id="20" name="Shape 18"/>
          <p:cNvSpPr/>
          <p:nvPr/>
        </p:nvSpPr>
        <p:spPr>
          <a:xfrm>
            <a:off x="365760" y="3703320"/>
            <a:ext cx="4160520" cy="1005840"/>
          </a:xfrm>
          <a:prstGeom prst="roundRect">
            <a:avLst>
              <a:gd name="adj" fmla="val 10909"/>
            </a:avLst>
          </a:prstGeom>
          <a:solidFill>
            <a:srgbClr val="1E293B"/>
          </a:solidFill>
          <a:ln/>
          <a:effectLst>
            <a:outerShdw sx="100000" sy="100000" kx="0" ky="0" algn="bl" rotWithShape="0" blurRad="127000" dist="50800" dir="2700000">
              <a:srgbClr val="000000">
                <a:alpha val="35000"/>
              </a:srgbClr>
            </a:outerShdw>
          </a:effectLst>
        </p:spPr>
      </p:sp>
      <p:sp>
        <p:nvSpPr>
          <p:cNvPr id="21" name="Shape 19"/>
          <p:cNvSpPr/>
          <p:nvPr/>
        </p:nvSpPr>
        <p:spPr>
          <a:xfrm>
            <a:off x="365760" y="3703320"/>
            <a:ext cx="54864" cy="1005840"/>
          </a:xfrm>
          <a:prstGeom prst="roundRect">
            <a:avLst>
              <a:gd name="adj" fmla="val 50000"/>
            </a:avLst>
          </a:prstGeom>
          <a:solidFill>
            <a:srgbClr val="F59E0B"/>
          </a:solidFill>
          <a:ln/>
        </p:spPr>
      </p:sp>
      <p:sp>
        <p:nvSpPr>
          <p:cNvPr id="22" name="Shape 20"/>
          <p:cNvSpPr/>
          <p:nvPr/>
        </p:nvSpPr>
        <p:spPr>
          <a:xfrm>
            <a:off x="530352" y="3886200"/>
            <a:ext cx="621792" cy="621792"/>
          </a:xfrm>
          <a:prstGeom prst="ellipse">
            <a:avLst/>
          </a:prstGeom>
          <a:solidFill>
            <a:srgbClr val="F59E0B">
              <a:alpha val="80000"/>
            </a:srgbClr>
          </a:solidFill>
          <a:ln/>
        </p:spPr>
      </p:sp>
      <p:sp>
        <p:nvSpPr>
          <p:cNvPr id="23" name="Text 21"/>
          <p:cNvSpPr/>
          <p:nvPr/>
        </p:nvSpPr>
        <p:spPr>
          <a:xfrm>
            <a:off x="530352" y="3886200"/>
            <a:ext cx="621792" cy="621792"/>
          </a:xfrm>
          <a:prstGeom prst="rect">
            <a:avLst/>
          </a:prstGeom>
          <a:noFill/>
          <a:ln/>
        </p:spPr>
        <p:txBody>
          <a:bodyPr wrap="square" lIns="0" tIns="0" rIns="0" bIns="0" rtlCol="0" anchor="ctr"/>
          <a:lstStyle/>
          <a:p>
            <a:pPr algn="ctr" indent="0" marL="0">
              <a:buNone/>
            </a:pPr>
            <a:r>
              <a:rPr lang="en-US" sz="2500" dirty="0">
                <a:solidFill>
                  <a:srgbClr val="000000"/>
                </a:solidFill>
              </a:rPr>
              <a:t>📈</a:t>
            </a:r>
            <a:endParaRPr lang="en-US" sz="2500" dirty="0"/>
          </a:p>
        </p:txBody>
      </p:sp>
      <p:sp>
        <p:nvSpPr>
          <p:cNvPr id="24" name="Text 22"/>
          <p:cNvSpPr/>
          <p:nvPr/>
        </p:nvSpPr>
        <p:spPr>
          <a:xfrm>
            <a:off x="1298448" y="3886200"/>
            <a:ext cx="3090672"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Scalable SQLite architecture ready for real-world deployment</a:t>
            </a:r>
            <a:endParaRPr lang="en-US" sz="1100" dirty="0"/>
          </a:p>
        </p:txBody>
      </p:sp>
      <p:sp>
        <p:nvSpPr>
          <p:cNvPr id="25" name="Shape 23"/>
          <p:cNvSpPr/>
          <p:nvPr/>
        </p:nvSpPr>
        <p:spPr>
          <a:xfrm>
            <a:off x="4800600" y="3703320"/>
            <a:ext cx="4160520" cy="1005840"/>
          </a:xfrm>
          <a:prstGeom prst="roundRect">
            <a:avLst>
              <a:gd name="adj" fmla="val 10909"/>
            </a:avLst>
          </a:prstGeom>
          <a:solidFill>
            <a:srgbClr val="1E293B"/>
          </a:solidFill>
          <a:ln/>
          <a:effectLst>
            <a:outerShdw sx="100000" sy="100000" kx="0" ky="0" algn="bl" rotWithShape="0" blurRad="127000" dist="50800" dir="2700000">
              <a:srgbClr val="000000">
                <a:alpha val="35000"/>
              </a:srgbClr>
            </a:outerShdw>
          </a:effectLst>
        </p:spPr>
      </p:sp>
      <p:sp>
        <p:nvSpPr>
          <p:cNvPr id="26" name="Shape 24"/>
          <p:cNvSpPr/>
          <p:nvPr/>
        </p:nvSpPr>
        <p:spPr>
          <a:xfrm>
            <a:off x="4800600" y="3703320"/>
            <a:ext cx="54864" cy="1005840"/>
          </a:xfrm>
          <a:prstGeom prst="roundRect">
            <a:avLst>
              <a:gd name="adj" fmla="val 50000"/>
            </a:avLst>
          </a:prstGeom>
          <a:solidFill>
            <a:srgbClr val="818CF8"/>
          </a:solidFill>
          <a:ln/>
        </p:spPr>
      </p:sp>
      <p:sp>
        <p:nvSpPr>
          <p:cNvPr id="27" name="Shape 25"/>
          <p:cNvSpPr/>
          <p:nvPr/>
        </p:nvSpPr>
        <p:spPr>
          <a:xfrm>
            <a:off x="4965192" y="3886200"/>
            <a:ext cx="621792" cy="621792"/>
          </a:xfrm>
          <a:prstGeom prst="ellipse">
            <a:avLst/>
          </a:prstGeom>
          <a:solidFill>
            <a:srgbClr val="818CF8">
              <a:alpha val="80000"/>
            </a:srgbClr>
          </a:solidFill>
          <a:ln/>
        </p:spPr>
      </p:sp>
      <p:sp>
        <p:nvSpPr>
          <p:cNvPr id="28" name="Text 26"/>
          <p:cNvSpPr/>
          <p:nvPr/>
        </p:nvSpPr>
        <p:spPr>
          <a:xfrm>
            <a:off x="4965192" y="3886200"/>
            <a:ext cx="621792" cy="621792"/>
          </a:xfrm>
          <a:prstGeom prst="rect">
            <a:avLst/>
          </a:prstGeom>
          <a:noFill/>
          <a:ln/>
        </p:spPr>
        <p:txBody>
          <a:bodyPr wrap="square" lIns="0" tIns="0" rIns="0" bIns="0" rtlCol="0" anchor="ctr"/>
          <a:lstStyle/>
          <a:p>
            <a:pPr algn="ctr" indent="0" marL="0">
              <a:buNone/>
            </a:pPr>
            <a:r>
              <a:rPr lang="en-US" sz="2500" dirty="0">
                <a:solidFill>
                  <a:srgbClr val="000000"/>
                </a:solidFill>
              </a:rPr>
              <a:t>🔮</a:t>
            </a:r>
            <a:endParaRPr lang="en-US" sz="2500" dirty="0"/>
          </a:p>
        </p:txBody>
      </p:sp>
      <p:sp>
        <p:nvSpPr>
          <p:cNvPr id="29" name="Text 27"/>
          <p:cNvSpPr/>
          <p:nvPr/>
        </p:nvSpPr>
        <p:spPr>
          <a:xfrm>
            <a:off x="5733288" y="3886200"/>
            <a:ext cx="3090672"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Strong foundation for future cloud + mobile AI campus solutions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1097280" y="-1097280"/>
            <a:ext cx="4572000" cy="4572000"/>
          </a:xfrm>
          <a:prstGeom prst="ellipse">
            <a:avLst/>
          </a:prstGeom>
          <a:solidFill>
            <a:srgbClr val="00B4D8">
              <a:alpha val="8000"/>
            </a:srgbClr>
          </a:solidFill>
          <a:ln w="12700">
            <a:solidFill>
              <a:srgbClr val="00B4D8">
                <a:alpha val="30000"/>
              </a:srgbClr>
            </a:solidFill>
            <a:prstDash val="solid"/>
          </a:ln>
        </p:spPr>
      </p:sp>
      <p:sp>
        <p:nvSpPr>
          <p:cNvPr id="3" name="Shape 1"/>
          <p:cNvSpPr/>
          <p:nvPr/>
        </p:nvSpPr>
        <p:spPr>
          <a:xfrm>
            <a:off x="6858000" y="2560320"/>
            <a:ext cx="3657600" cy="3657600"/>
          </a:xfrm>
          <a:prstGeom prst="ellipse">
            <a:avLst/>
          </a:prstGeom>
          <a:solidFill>
            <a:srgbClr val="818CF8">
              <a:alpha val="7000"/>
            </a:srgbClr>
          </a:solidFill>
          <a:ln w="12700">
            <a:solidFill>
              <a:srgbClr val="818CF8">
                <a:alpha val="25000"/>
              </a:srgbClr>
            </a:solidFill>
            <a:prstDash val="solid"/>
          </a:ln>
        </p:spPr>
      </p:sp>
      <p:sp>
        <p:nvSpPr>
          <p:cNvPr id="4" name="Shape 2"/>
          <p:cNvSpPr/>
          <p:nvPr/>
        </p:nvSpPr>
        <p:spPr>
          <a:xfrm>
            <a:off x="3840480" y="3474720"/>
            <a:ext cx="2560320" cy="2560320"/>
          </a:xfrm>
          <a:prstGeom prst="ellipse">
            <a:avLst/>
          </a:prstGeom>
          <a:solidFill>
            <a:srgbClr val="10B981">
              <a:alpha val="6000"/>
            </a:srgbClr>
          </a:solidFill>
          <a:ln w="12700">
            <a:solidFill>
              <a:srgbClr val="10B981">
                <a:alpha val="20000"/>
              </a:srgbClr>
            </a:solidFill>
            <a:prstDash val="solid"/>
          </a:ln>
        </p:spPr>
      </p:sp>
      <p:sp>
        <p:nvSpPr>
          <p:cNvPr id="5" name="Shape 3"/>
          <p:cNvSpPr/>
          <p:nvPr/>
        </p:nvSpPr>
        <p:spPr>
          <a:xfrm>
            <a:off x="3200400" y="411480"/>
            <a:ext cx="2743200" cy="347472"/>
          </a:xfrm>
          <a:prstGeom prst="roundRect">
            <a:avLst>
              <a:gd name="adj" fmla="val 26316"/>
            </a:avLst>
          </a:prstGeom>
          <a:solidFill>
            <a:srgbClr val="00B4D8"/>
          </a:solidFill>
          <a:ln/>
        </p:spPr>
      </p:sp>
      <p:sp>
        <p:nvSpPr>
          <p:cNvPr id="6" name="Text 4"/>
          <p:cNvSpPr/>
          <p:nvPr/>
        </p:nvSpPr>
        <p:spPr>
          <a:xfrm>
            <a:off x="3200400" y="411480"/>
            <a:ext cx="2743200" cy="347472"/>
          </a:xfrm>
          <a:prstGeom prst="rect">
            <a:avLst/>
          </a:prstGeom>
          <a:noFill/>
          <a:ln/>
        </p:spPr>
        <p:txBody>
          <a:bodyPr wrap="square" lIns="0" tIns="0" rIns="0" bIns="0" rtlCol="0" anchor="ctr"/>
          <a:lstStyle/>
          <a:p>
            <a:pPr algn="ctr" indent="0" marL="0">
              <a:buNone/>
            </a:pPr>
            <a:r>
              <a:rPr lang="en-US" sz="800" b="1" spc="150" kern="0" dirty="0">
                <a:solidFill>
                  <a:srgbClr val="0A0E27"/>
                </a:solidFill>
              </a:rPr>
              <a:t>AI-POWERED FACE ATTENDANCE SYSTEM</a:t>
            </a:r>
            <a:endParaRPr lang="en-US" sz="800" dirty="0"/>
          </a:p>
        </p:txBody>
      </p:sp>
      <p:sp>
        <p:nvSpPr>
          <p:cNvPr id="7" name="Text 5"/>
          <p:cNvSpPr/>
          <p:nvPr/>
        </p:nvSpPr>
        <p:spPr>
          <a:xfrm>
            <a:off x="457200" y="868680"/>
            <a:ext cx="8229600" cy="105156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THANK</a:t>
            </a:r>
            <a:endParaRPr lang="en-US" sz="7200" dirty="0"/>
          </a:p>
        </p:txBody>
      </p:sp>
      <p:sp>
        <p:nvSpPr>
          <p:cNvPr id="8" name="Text 6"/>
          <p:cNvSpPr/>
          <p:nvPr/>
        </p:nvSpPr>
        <p:spPr>
          <a:xfrm>
            <a:off x="457200" y="1874520"/>
            <a:ext cx="8229600" cy="1051560"/>
          </a:xfrm>
          <a:prstGeom prst="rect">
            <a:avLst/>
          </a:prstGeom>
          <a:noFill/>
          <a:ln/>
        </p:spPr>
        <p:txBody>
          <a:bodyPr wrap="square" lIns="0" tIns="0" rIns="0" bIns="0" rtlCol="0" anchor="ctr"/>
          <a:lstStyle/>
          <a:p>
            <a:pPr algn="ctr" indent="0" marL="0">
              <a:buNone/>
            </a:pPr>
            <a:r>
              <a:rPr lang="en-US" sz="7200" b="1" dirty="0">
                <a:solidFill>
                  <a:srgbClr val="38BDF8"/>
                </a:solidFill>
                <a:latin typeface="Cambria" pitchFamily="34" charset="0"/>
                <a:ea typeface="Cambria" pitchFamily="34" charset="-122"/>
                <a:cs typeface="Cambria" pitchFamily="34" charset="-120"/>
              </a:rPr>
              <a:t>YOU!</a:t>
            </a:r>
            <a:endParaRPr lang="en-US" sz="7200" dirty="0"/>
          </a:p>
        </p:txBody>
      </p:sp>
      <p:sp>
        <p:nvSpPr>
          <p:cNvPr id="9" name="Shape 7"/>
          <p:cNvSpPr/>
          <p:nvPr/>
        </p:nvSpPr>
        <p:spPr>
          <a:xfrm>
            <a:off x="2286000" y="2999232"/>
            <a:ext cx="4572000" cy="0"/>
          </a:xfrm>
          <a:prstGeom prst="line">
            <a:avLst/>
          </a:prstGeom>
          <a:noFill/>
          <a:ln w="19050">
            <a:solidFill>
              <a:srgbClr val="00B4D8"/>
            </a:solidFill>
            <a:prstDash val="solid"/>
          </a:ln>
        </p:spPr>
      </p:sp>
      <p:sp>
        <p:nvSpPr>
          <p:cNvPr id="10" name="Text 8"/>
          <p:cNvSpPr/>
          <p:nvPr/>
        </p:nvSpPr>
        <p:spPr>
          <a:xfrm>
            <a:off x="1828800" y="3063240"/>
            <a:ext cx="5486400" cy="384048"/>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Questions &amp; Answers</a:t>
            </a:r>
            <a:endParaRPr lang="en-US" sz="1400" dirty="0"/>
          </a:p>
        </p:txBody>
      </p:sp>
      <p:sp>
        <p:nvSpPr>
          <p:cNvPr id="11" name="Shape 9"/>
          <p:cNvSpPr/>
          <p:nvPr/>
        </p:nvSpPr>
        <p:spPr>
          <a:xfrm>
            <a:off x="2560320" y="3547872"/>
            <a:ext cx="4023360" cy="1371600"/>
          </a:xfrm>
          <a:prstGeom prst="roundRect">
            <a:avLst>
              <a:gd name="adj" fmla="val 12000"/>
            </a:avLst>
          </a:prstGeom>
          <a:solidFill>
            <a:srgbClr val="1E293B"/>
          </a:solidFill>
          <a:ln/>
          <a:effectLst>
            <a:outerShdw sx="100000" sy="100000" kx="0" ky="0" algn="bl" rotWithShape="0" blurRad="152400" dist="50800" dir="2700000">
              <a:srgbClr val="000000">
                <a:alpha val="40000"/>
              </a:srgbClr>
            </a:outerShdw>
          </a:effectLst>
        </p:spPr>
      </p:sp>
      <p:sp>
        <p:nvSpPr>
          <p:cNvPr id="12" name="Shape 10"/>
          <p:cNvSpPr/>
          <p:nvPr/>
        </p:nvSpPr>
        <p:spPr>
          <a:xfrm>
            <a:off x="2560320" y="3547872"/>
            <a:ext cx="54864" cy="1371600"/>
          </a:xfrm>
          <a:prstGeom prst="roundRect">
            <a:avLst>
              <a:gd name="adj" fmla="val 50000"/>
            </a:avLst>
          </a:prstGeom>
          <a:solidFill>
            <a:srgbClr val="38BDF8"/>
          </a:solidFill>
          <a:ln/>
        </p:spPr>
      </p:sp>
      <p:sp>
        <p:nvSpPr>
          <p:cNvPr id="13" name="Text 11"/>
          <p:cNvSpPr/>
          <p:nvPr/>
        </p:nvSpPr>
        <p:spPr>
          <a:xfrm>
            <a:off x="2788920" y="3566160"/>
            <a:ext cx="3657600" cy="1325880"/>
          </a:xfrm>
          <a:prstGeom prst="rect">
            <a:avLst/>
          </a:prstGeom>
          <a:noFill/>
          <a:ln/>
        </p:spPr>
        <p:txBody>
          <a:bodyPr wrap="square" lIns="0" tIns="0" rIns="0" bIns="0" rtlCol="0" anchor="ctr"/>
          <a:lstStyle/>
          <a:p>
            <a:pPr algn="ctr" indent="0" marL="0">
              <a:buNone/>
            </a:pPr>
            <a:r>
              <a:rPr lang="en-US" sz="1800" b="1" dirty="0">
                <a:solidFill>
                  <a:srgbClr val="FFFFFF"/>
                </a:solidFill>
              </a:rPr>
              <a:t>Shreyas Goyal</a:t>
            </a:r>
            <a:endParaRPr lang="en-US" sz="1800" dirty="0"/>
          </a:p>
          <a:p>
            <a:pPr algn="ctr" indent="0" marL="0">
              <a:buNone/>
            </a:pPr>
            <a:r>
              <a:rPr lang="en-US" sz="1100" dirty="0">
                <a:solidFill>
                  <a:srgbClr val="94A3B8"/>
                </a:solidFill>
              </a:rPr>
              <a:t>B.Tech CSE (AI &amp; ML – IBM)</a:t>
            </a:r>
            <a:endParaRPr lang="en-US" sz="1800" dirty="0"/>
          </a:p>
          <a:p>
            <a:pPr algn="ctr" indent="0" marL="0">
              <a:buNone/>
            </a:pPr>
            <a:r>
              <a:rPr lang="en-US" sz="1050" dirty="0">
                <a:solidFill>
                  <a:srgbClr val="94A3B8"/>
                </a:solidFill>
              </a:rPr>
              <a:t>Amrapali University, Haldwani</a:t>
            </a:r>
            <a:endParaRPr lang="en-US" sz="1800" dirty="0"/>
          </a:p>
          <a:p>
            <a:pPr algn="ctr" indent="0" marL="0">
              <a:buNone/>
            </a:pPr>
            <a:r>
              <a:rPr lang="en-US" sz="950" dirty="0">
                <a:solidFill>
                  <a:srgbClr val="38BDF8"/>
                </a:solidFill>
              </a:rPr>
              <a:t>IBM AI &amp; ML Essentials Graduate</a:t>
            </a:r>
            <a:endParaRPr lang="en-US" sz="1800" dirty="0"/>
          </a:p>
        </p:txBody>
      </p:sp>
      <p:sp>
        <p:nvSpPr>
          <p:cNvPr id="14" name="Shape 12"/>
          <p:cNvSpPr/>
          <p:nvPr/>
        </p:nvSpPr>
        <p:spPr>
          <a:xfrm>
            <a:off x="3200400" y="4754880"/>
            <a:ext cx="2743200" cy="256032"/>
          </a:xfrm>
          <a:prstGeom prst="roundRect">
            <a:avLst>
              <a:gd name="adj" fmla="val 21429"/>
            </a:avLst>
          </a:prstGeom>
          <a:solidFill>
            <a:srgbClr val="0F172A"/>
          </a:solidFill>
          <a:ln w="6350">
            <a:solidFill>
              <a:srgbClr val="94A3B8"/>
            </a:solidFill>
            <a:prstDash val="solid"/>
          </a:ln>
        </p:spPr>
      </p:sp>
      <p:sp>
        <p:nvSpPr>
          <p:cNvPr id="15" name="Text 13"/>
          <p:cNvSpPr/>
          <p:nvPr/>
        </p:nvSpPr>
        <p:spPr>
          <a:xfrm>
            <a:off x="3200400" y="4754880"/>
            <a:ext cx="2743200" cy="256032"/>
          </a:xfrm>
          <a:prstGeom prst="rect">
            <a:avLst/>
          </a:prstGeom>
          <a:noFill/>
          <a:ln/>
        </p:spPr>
        <p:txBody>
          <a:bodyPr wrap="square" lIns="0" tIns="0" rIns="0" bIns="0" rtlCol="0" anchor="ctr"/>
          <a:lstStyle/>
          <a:p>
            <a:pPr algn="ctr" indent="0" marL="0">
              <a:buNone/>
            </a:pPr>
            <a:r>
              <a:rPr lang="en-US" sz="800" dirty="0">
                <a:solidFill>
                  <a:srgbClr val="94A3B8"/>
                </a:solidFill>
              </a:rPr>
              <a:t>github.com/shreyas2007-goyal/Face-Attendance-System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Face Attendance System</dc:title>
  <dc:subject>PptxGenJS Presentation</dc:subject>
  <dc:creator>Shreyas Goyal</dc:creator>
  <cp:lastModifiedBy>Shreyas Goyal</cp:lastModifiedBy>
  <cp:revision>1</cp:revision>
  <dcterms:created xsi:type="dcterms:W3CDTF">2026-06-23T17:47:51Z</dcterms:created>
  <dcterms:modified xsi:type="dcterms:W3CDTF">2026-06-23T17:47:51Z</dcterms:modified>
</cp:coreProperties>
</file>